
<file path=[Content_Types].xml><?xml version="1.0" encoding="utf-8"?>
<Types xmlns="http://schemas.openxmlformats.org/package/2006/content-types">
  <Default Extension="bin" ContentType="image/unknown"/>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3" pos="1912" userDrawn="1">
          <p15:clr>
            <a:srgbClr val="A4A3A4"/>
          </p15:clr>
        </p15:guide>
        <p15:guide id="4" pos="5790" userDrawn="1">
          <p15:clr>
            <a:srgbClr val="A4A3A4"/>
          </p15:clr>
        </p15:guide>
        <p15:guide id="5" orient="horz" pos="2160" userDrawn="1">
          <p15:clr>
            <a:srgbClr val="A4A3A4"/>
          </p15:clr>
        </p15:guide>
        <p15:guide id="6" orient="horz" pos="1480" userDrawn="1">
          <p15:clr>
            <a:srgbClr val="A4A3A4"/>
          </p15:clr>
        </p15:guide>
        <p15:guide id="7" orient="horz" pos="2840" userDrawn="1">
          <p15:clr>
            <a:srgbClr val="A4A3A4"/>
          </p15:clr>
        </p15:guide>
        <p15:guide id="8" orient="horz" pos="822" userDrawn="1">
          <p15:clr>
            <a:srgbClr val="A4A3A4"/>
          </p15:clr>
        </p15:guide>
        <p15:guide id="9" orient="horz" pos="119" userDrawn="1">
          <p15:clr>
            <a:srgbClr val="A4A3A4"/>
          </p15:clr>
        </p15:guide>
        <p15:guide id="10" orient="horz" pos="4201" userDrawn="1">
          <p15:clr>
            <a:srgbClr val="A4A3A4"/>
          </p15:clr>
        </p15:guide>
        <p15:guide id="11" orient="horz" pos="352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97" d="100"/>
          <a:sy n="97" d="100"/>
        </p:scale>
        <p:origin x="996" y="72"/>
      </p:cViewPr>
      <p:guideLst>
        <p:guide pos="3840"/>
        <p:guide pos="1912"/>
        <p:guide pos="5790"/>
        <p:guide orient="horz" pos="2160"/>
        <p:guide orient="horz" pos="1480"/>
        <p:guide orient="horz" pos="2840"/>
        <p:guide orient="horz" pos="822"/>
        <p:guide orient="horz" pos="119"/>
        <p:guide orient="horz" pos="4201"/>
        <p:guide orient="horz" pos="352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AB040-73FC-4AB9-A2EF-2C80E10B7A70}" type="datetimeFigureOut">
              <a:rPr lang="fr-FR" smtClean="0"/>
              <a:t>12/04/2022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DF205-49B1-4192-AA7C-687CF736FA04}" type="slidenum">
              <a:rPr lang="fr-FR" smtClean="0"/>
              <a:t>‹N°›</a:t>
            </a:fld>
            <a:endParaRPr lang="fr-FR"/>
          </a:p>
        </p:txBody>
      </p:sp>
    </p:spTree>
    <p:extLst>
      <p:ext uri="{BB962C8B-B14F-4D97-AF65-F5344CB8AC3E}">
        <p14:creationId xmlns:p14="http://schemas.microsoft.com/office/powerpoint/2010/main" val="1965650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BDF205-49B1-4192-AA7C-687CF736FA04}" type="slidenum">
              <a:rPr lang="fr-FR" smtClean="0"/>
              <a:t>10</a:t>
            </a:fld>
            <a:endParaRPr lang="fr-FR"/>
          </a:p>
        </p:txBody>
      </p:sp>
    </p:spTree>
    <p:extLst>
      <p:ext uri="{BB962C8B-B14F-4D97-AF65-F5344CB8AC3E}">
        <p14:creationId xmlns:p14="http://schemas.microsoft.com/office/powerpoint/2010/main" val="3116166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BDF205-49B1-4192-AA7C-687CF736FA04}" type="slidenum">
              <a:rPr lang="fr-FR" smtClean="0"/>
              <a:t>11</a:t>
            </a:fld>
            <a:endParaRPr lang="fr-FR"/>
          </a:p>
        </p:txBody>
      </p:sp>
    </p:spTree>
    <p:extLst>
      <p:ext uri="{BB962C8B-B14F-4D97-AF65-F5344CB8AC3E}">
        <p14:creationId xmlns:p14="http://schemas.microsoft.com/office/powerpoint/2010/main" val="2092322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6BDF205-49B1-4192-AA7C-687CF736FA04}" type="slidenum">
              <a:rPr lang="fr-FR" smtClean="0"/>
              <a:t>12</a:t>
            </a:fld>
            <a:endParaRPr lang="fr-FR"/>
          </a:p>
        </p:txBody>
      </p:sp>
    </p:spTree>
    <p:extLst>
      <p:ext uri="{BB962C8B-B14F-4D97-AF65-F5344CB8AC3E}">
        <p14:creationId xmlns:p14="http://schemas.microsoft.com/office/powerpoint/2010/main" val="272842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fr-FR"/>
              <a:t>Modifiez le style du titre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352706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2470713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fr-FR"/>
              <a:t>Modifiez le style du titre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2357771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fr-FR"/>
              <a:t>Modifiez le style du titre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531010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913795" y="2912232"/>
            <a:ext cx="5107208" cy="287896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912232"/>
            <a:ext cx="5095357" cy="287896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308061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768252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282122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fr-FR"/>
              <a:t>Modifiez le style du titre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3569872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9132420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fr-FR"/>
              <a:t>Modifiez le style du titre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Cliquez sur l'icône pour ajouter une image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2892810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53800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fr-FR"/>
              <a:t>Modifiez le style du titre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38458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fr-FR"/>
              <a:t>Modifiez le style du titre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310241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fr-FR"/>
              <a:t>Modifiez le style du titre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2031494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fr-FR"/>
              <a:t>Modifiez le style du titre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dirty="0"/>
              <a:t>Cliquez sur l'icône pour ajouter une image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28370156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954682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53F7B16-2723-404A-B6D0-23E7A258903A}" type="datetimeFigureOut">
              <a:rPr lang="fr-FR" smtClean="0"/>
              <a:t>12/04/2022</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2A706F-9ED3-4F88-812F-104010C10DC9}" type="slidenum">
              <a:rPr lang="fr-FR" smtClean="0"/>
              <a:t>‹N°›</a:t>
            </a:fld>
            <a:endParaRPr lang="fr-FR" dirty="0"/>
          </a:p>
        </p:txBody>
      </p:sp>
    </p:spTree>
    <p:extLst>
      <p:ext uri="{BB962C8B-B14F-4D97-AF65-F5344CB8AC3E}">
        <p14:creationId xmlns:p14="http://schemas.microsoft.com/office/powerpoint/2010/main" val="1128905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3F7B16-2723-404A-B6D0-23E7A258903A}" type="datetimeFigureOut">
              <a:rPr lang="fr-FR" smtClean="0"/>
              <a:t>12/04/2022</a:t>
            </a:fld>
            <a:endParaRPr lang="fr-FR"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fr-FR"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F52A706F-9ED3-4F88-812F-104010C10DC9}" type="slidenum">
              <a:rPr lang="fr-FR" smtClean="0"/>
              <a:t>‹N°›</a:t>
            </a:fld>
            <a:endParaRPr lang="fr-FR" dirty="0"/>
          </a:p>
        </p:txBody>
      </p:sp>
    </p:spTree>
    <p:extLst>
      <p:ext uri="{BB962C8B-B14F-4D97-AF65-F5344CB8AC3E}">
        <p14:creationId xmlns:p14="http://schemas.microsoft.com/office/powerpoint/2010/main" val="2740933555"/>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bin"/><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mailto:bam@20.224.137.22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5AB243-ABDC-4251-8452-94F6F7CF0809}"/>
              </a:ext>
            </a:extLst>
          </p:cNvPr>
          <p:cNvSpPr>
            <a:spLocks noGrp="1"/>
          </p:cNvSpPr>
          <p:nvPr>
            <p:ph type="ctrTitle"/>
          </p:nvPr>
        </p:nvSpPr>
        <p:spPr>
          <a:xfrm>
            <a:off x="0" y="2066260"/>
            <a:ext cx="9191625" cy="2387600"/>
          </a:xfrm>
        </p:spPr>
        <p:txBody>
          <a:bodyPr/>
          <a:lstStyle/>
          <a:p>
            <a:r>
              <a:rPr lang="fr-FR" dirty="0"/>
              <a:t>Rapport de projet:</a:t>
            </a:r>
            <a:br>
              <a:rPr lang="fr-FR" dirty="0"/>
            </a:br>
            <a:r>
              <a:rPr lang="fr-FR" dirty="0"/>
              <a:t>VPN</a:t>
            </a:r>
          </a:p>
        </p:txBody>
      </p:sp>
      <p:sp>
        <p:nvSpPr>
          <p:cNvPr id="3" name="Sous-titre 2">
            <a:extLst>
              <a:ext uri="{FF2B5EF4-FFF2-40B4-BE49-F238E27FC236}">
                <a16:creationId xmlns:a16="http://schemas.microsoft.com/office/drawing/2014/main" id="{CB338679-E4F3-4454-9756-A0210D8CE347}"/>
              </a:ext>
            </a:extLst>
          </p:cNvPr>
          <p:cNvSpPr>
            <a:spLocks noGrp="1"/>
          </p:cNvSpPr>
          <p:nvPr>
            <p:ph type="subTitle" idx="1"/>
          </p:nvPr>
        </p:nvSpPr>
        <p:spPr>
          <a:xfrm>
            <a:off x="190163" y="4654090"/>
            <a:ext cx="9001462" cy="1655762"/>
          </a:xfrm>
        </p:spPr>
        <p:txBody>
          <a:bodyPr/>
          <a:lstStyle/>
          <a:p>
            <a:r>
              <a:rPr lang="fr-FR" dirty="0">
                <a:solidFill>
                  <a:srgbClr val="00B0F0"/>
                </a:solidFill>
              </a:rPr>
              <a:t>REALISE PAR BAMHAMMED METEHRI &amp; ADRIAN TARNAR</a:t>
            </a:r>
          </a:p>
        </p:txBody>
      </p:sp>
    </p:spTree>
    <p:extLst>
      <p:ext uri="{BB962C8B-B14F-4D97-AF65-F5344CB8AC3E}">
        <p14:creationId xmlns:p14="http://schemas.microsoft.com/office/powerpoint/2010/main" val="10078020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DD86B13-3D93-452B-BC76-C6F2DB8D3E78}"/>
              </a:ext>
            </a:extLst>
          </p:cNvPr>
          <p:cNvSpPr txBox="1"/>
          <p:nvPr/>
        </p:nvSpPr>
        <p:spPr>
          <a:xfrm>
            <a:off x="1248698" y="859752"/>
            <a:ext cx="1999137" cy="523220"/>
          </a:xfrm>
          <a:prstGeom prst="rect">
            <a:avLst/>
          </a:prstGeom>
          <a:noFill/>
        </p:spPr>
        <p:txBody>
          <a:bodyPr wrap="none" rtlCol="0">
            <a:spAutoFit/>
          </a:bodyPr>
          <a:lstStyle/>
          <a:p>
            <a:r>
              <a:rPr lang="fr-FR" sz="2800" dirty="0">
                <a:solidFill>
                  <a:srgbClr val="FFFF00"/>
                </a:solidFill>
              </a:rPr>
              <a:t>Sommaire: </a:t>
            </a:r>
          </a:p>
        </p:txBody>
      </p:sp>
      <p:sp>
        <p:nvSpPr>
          <p:cNvPr id="5" name="ZoneTexte 4">
            <a:extLst>
              <a:ext uri="{FF2B5EF4-FFF2-40B4-BE49-F238E27FC236}">
                <a16:creationId xmlns:a16="http://schemas.microsoft.com/office/drawing/2014/main" id="{B33E06E4-FAAB-4780-982D-EFCBC6627A7E}"/>
              </a:ext>
            </a:extLst>
          </p:cNvPr>
          <p:cNvSpPr txBox="1"/>
          <p:nvPr/>
        </p:nvSpPr>
        <p:spPr>
          <a:xfrm>
            <a:off x="2197509" y="1530456"/>
            <a:ext cx="7796981" cy="4339650"/>
          </a:xfrm>
          <a:prstGeom prst="rect">
            <a:avLst/>
          </a:prstGeom>
          <a:noFill/>
        </p:spPr>
        <p:txBody>
          <a:bodyPr wrap="square" rtlCol="0">
            <a:spAutoFit/>
          </a:bodyPr>
          <a:lstStyle/>
          <a:p>
            <a:pPr marL="514350" indent="-514350">
              <a:buFont typeface="+mj-lt"/>
              <a:buAutoNum type="arabicPeriod"/>
            </a:pPr>
            <a:r>
              <a:rPr lang="fr-FR" sz="2400" b="1" dirty="0">
                <a:effectLst>
                  <a:outerShdw blurRad="38100" dist="38100" dir="2700000" algn="tl">
                    <a:srgbClr val="000000">
                      <a:alpha val="43137"/>
                    </a:srgbClr>
                  </a:outerShdw>
                </a:effectLst>
                <a:latin typeface="Corbel" panose="020B0503020204020204" pitchFamily="34" charset="0"/>
              </a:rPr>
              <a:t>Présentation du VPN</a:t>
            </a:r>
          </a:p>
          <a:p>
            <a:pPr marL="971550" lvl="1" indent="-514350">
              <a:buFont typeface="+mj-lt"/>
              <a:buAutoNum type="alphaLcPeriod"/>
            </a:pPr>
            <a:r>
              <a:rPr lang="fr-FR" sz="2000" dirty="0">
                <a:latin typeface="Corbel" panose="020B0503020204020204" pitchFamily="34" charset="0"/>
              </a:rPr>
              <a:t>VPN en général </a:t>
            </a:r>
          </a:p>
          <a:p>
            <a:pPr marL="971550" lvl="1" indent="-514350">
              <a:buFont typeface="+mj-lt"/>
              <a:buAutoNum type="alphaLcPeriod"/>
            </a:pPr>
            <a:r>
              <a:rPr lang="fr-FR" sz="2000" dirty="0">
                <a:latin typeface="Corbel" panose="020B0503020204020204" pitchFamily="34" charset="0"/>
              </a:rPr>
              <a:t>Choix de la solution	</a:t>
            </a:r>
          </a:p>
          <a:p>
            <a:pPr marL="514350" indent="-514350">
              <a:buFont typeface="+mj-lt"/>
              <a:buAutoNum type="arabicPeriod"/>
            </a:pPr>
            <a:endParaRPr lang="fr-FR" sz="2000" dirty="0">
              <a:latin typeface="Corbel" panose="020B0503020204020204" pitchFamily="34" charset="0"/>
            </a:endParaRPr>
          </a:p>
          <a:p>
            <a:pPr marL="514350" indent="-514350">
              <a:buFont typeface="+mj-lt"/>
              <a:buAutoNum type="arabicPeriod"/>
            </a:pPr>
            <a:r>
              <a:rPr lang="fr-FR" sz="2400" b="1" dirty="0">
                <a:effectLst>
                  <a:outerShdw blurRad="38100" dist="38100" dir="2700000" algn="tl">
                    <a:srgbClr val="000000">
                      <a:alpha val="43137"/>
                    </a:srgbClr>
                  </a:outerShdw>
                </a:effectLst>
                <a:latin typeface="Corbel" panose="020B0503020204020204" pitchFamily="34" charset="0"/>
              </a:rPr>
              <a:t>Coté Serveur</a:t>
            </a:r>
          </a:p>
          <a:p>
            <a:pPr marL="971550" lvl="1" indent="-514350">
              <a:buFont typeface="+mj-lt"/>
              <a:buAutoNum type="alphaLcPeriod"/>
            </a:pPr>
            <a:r>
              <a:rPr lang="fr-FR" sz="2000" dirty="0">
                <a:latin typeface="Corbel" panose="020B0503020204020204" pitchFamily="34" charset="0"/>
              </a:rPr>
              <a:t>Génération des fichiers d’authentification</a:t>
            </a:r>
          </a:p>
          <a:p>
            <a:pPr marL="971550" lvl="1" indent="-514350">
              <a:buFont typeface="+mj-lt"/>
              <a:buAutoNum type="alphaLcPeriod"/>
            </a:pPr>
            <a:r>
              <a:rPr lang="fr-FR" sz="2000" dirty="0">
                <a:latin typeface="Corbel" panose="020B0503020204020204" pitchFamily="34" charset="0"/>
              </a:rPr>
              <a:t>Installation et préparation  de OpenVPN   </a:t>
            </a:r>
          </a:p>
          <a:p>
            <a:r>
              <a:rPr lang="fr-FR" sz="2000" dirty="0">
                <a:latin typeface="Corbel" panose="020B0503020204020204" pitchFamily="34" charset="0"/>
              </a:rPr>
              <a:t>    </a:t>
            </a:r>
          </a:p>
          <a:p>
            <a:pPr marL="457200" indent="-457200">
              <a:buFont typeface="+mj-lt"/>
              <a:buAutoNum type="arabicPeriod"/>
            </a:pPr>
            <a:r>
              <a:rPr lang="fr-FR" sz="2400" b="1" dirty="0">
                <a:effectLst>
                  <a:outerShdw blurRad="38100" dist="38100" dir="2700000" algn="tl">
                    <a:srgbClr val="000000">
                      <a:alpha val="43137"/>
                    </a:srgbClr>
                  </a:outerShdw>
                </a:effectLst>
                <a:latin typeface="Corbel" panose="020B0503020204020204" pitchFamily="34" charset="0"/>
              </a:rPr>
              <a:t>Coté Client</a:t>
            </a:r>
          </a:p>
          <a:p>
            <a:pPr marL="914400" lvl="1" indent="-457200">
              <a:buFont typeface="+mj-lt"/>
              <a:buAutoNum type="alphaLcPeriod"/>
            </a:pPr>
            <a:r>
              <a:rPr lang="fr-FR" sz="2000" dirty="0">
                <a:latin typeface="Corbel" panose="020B0503020204020204" pitchFamily="34" charset="0"/>
              </a:rPr>
              <a:t>Installation et préparation  de OpenVPN       </a:t>
            </a:r>
          </a:p>
          <a:p>
            <a:pPr marL="914400" lvl="1" indent="-457200">
              <a:buFont typeface="+mj-lt"/>
              <a:buAutoNum type="alphaLcPeriod"/>
            </a:pPr>
            <a:r>
              <a:rPr lang="fr-FR" sz="2000" dirty="0">
                <a:latin typeface="Corbel" panose="020B0503020204020204" pitchFamily="34" charset="0"/>
              </a:rPr>
              <a:t>Test de connexion</a:t>
            </a:r>
          </a:p>
          <a:p>
            <a:endParaRPr lang="fr-FR" sz="2000" dirty="0">
              <a:latin typeface="Corbel" panose="020B0503020204020204" pitchFamily="34" charset="0"/>
            </a:endParaRPr>
          </a:p>
          <a:p>
            <a:pPr marL="457200" indent="-457200">
              <a:buFont typeface="+mj-lt"/>
              <a:buAutoNum type="arabicPeriod"/>
            </a:pPr>
            <a:r>
              <a:rPr lang="fr-FR" sz="2400" b="1" dirty="0">
                <a:effectLst>
                  <a:outerShdw blurRad="38100" dist="38100" dir="2700000" algn="tl">
                    <a:srgbClr val="000000">
                      <a:alpha val="43137"/>
                    </a:srgbClr>
                  </a:outerShdw>
                </a:effectLst>
                <a:latin typeface="Corbel" panose="020B0503020204020204" pitchFamily="34" charset="0"/>
              </a:rPr>
              <a:t>Conclusion</a:t>
            </a:r>
          </a:p>
        </p:txBody>
      </p:sp>
    </p:spTree>
    <p:extLst>
      <p:ext uri="{BB962C8B-B14F-4D97-AF65-F5344CB8AC3E}">
        <p14:creationId xmlns:p14="http://schemas.microsoft.com/office/powerpoint/2010/main" val="21193509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1248698" y="908914"/>
            <a:ext cx="3376950" cy="523220"/>
          </a:xfrm>
          <a:prstGeom prst="rect">
            <a:avLst/>
          </a:prstGeom>
          <a:noFill/>
        </p:spPr>
        <p:txBody>
          <a:bodyPr wrap="none" rtlCol="0">
            <a:spAutoFit/>
          </a:bodyPr>
          <a:lstStyle/>
          <a:p>
            <a:pPr marL="514350" indent="-514350">
              <a:buFont typeface="+mj-lt"/>
              <a:buAutoNum type="alphaLcParenR"/>
            </a:pPr>
            <a:r>
              <a:rPr lang="fr-FR" sz="2800" dirty="0">
                <a:solidFill>
                  <a:srgbClr val="FFFF00"/>
                </a:solidFill>
              </a:rPr>
              <a:t>VPN en général </a:t>
            </a:r>
          </a:p>
        </p:txBody>
      </p:sp>
      <p:sp>
        <p:nvSpPr>
          <p:cNvPr id="6" name="ZoneTexte 5">
            <a:extLst>
              <a:ext uri="{FF2B5EF4-FFF2-40B4-BE49-F238E27FC236}">
                <a16:creationId xmlns:a16="http://schemas.microsoft.com/office/drawing/2014/main" id="{494C165D-1EF4-4D0C-9DB0-FB8A3788D7C3}"/>
              </a:ext>
            </a:extLst>
          </p:cNvPr>
          <p:cNvSpPr txBox="1"/>
          <p:nvPr/>
        </p:nvSpPr>
        <p:spPr>
          <a:xfrm>
            <a:off x="1799304" y="2040163"/>
            <a:ext cx="9222658" cy="3139321"/>
          </a:xfrm>
          <a:prstGeom prst="rect">
            <a:avLst/>
          </a:prstGeom>
          <a:noFill/>
        </p:spPr>
        <p:txBody>
          <a:bodyPr wrap="square" rtlCol="0">
            <a:spAutoFit/>
          </a:bodyPr>
          <a:lstStyle/>
          <a:p>
            <a:r>
              <a:rPr lang="fr-FR" dirty="0">
                <a:latin typeface="Corbel" panose="020B0503020204020204" pitchFamily="34" charset="0"/>
              </a:rPr>
              <a:t>	VPN ou Virtual Private Networking, est un ensemble de technologies qui permettent à un appareil de se connecter via un tunnel protégé à un autre réseau. Cela donne une connexion sécurisée et chiffrée. Les VPN nous permettent de nous cacher lorsque nous surfons sur le Web.</a:t>
            </a:r>
          </a:p>
          <a:p>
            <a:endParaRPr lang="fr-FR" dirty="0">
              <a:latin typeface="Corbel" panose="020B0503020204020204" pitchFamily="34" charset="0"/>
            </a:endParaRPr>
          </a:p>
          <a:p>
            <a:endParaRPr lang="fr-FR" dirty="0">
              <a:latin typeface="Corbel" panose="020B0503020204020204" pitchFamily="34" charset="0"/>
            </a:endParaRPr>
          </a:p>
          <a:p>
            <a:r>
              <a:rPr lang="fr-FR" dirty="0">
                <a:latin typeface="Corbel" panose="020B0503020204020204" pitchFamily="34" charset="0"/>
              </a:rPr>
              <a:t>	Plutôt que d’envoyer votre trafic Internet (par exemple vos recherches en ligne, vos chargements et vos téléchargements) directement à votre fournisseur d’accès Internet (FAI), un VPN achemine d’abord votre trafic via un serveur VPN. Ainsi, lorsque vos données sont finalement transmises sur Internet, elles semblent provenir du serveur VPN et non de votre appareil personnel.</a:t>
            </a:r>
          </a:p>
          <a:p>
            <a:r>
              <a:rPr lang="fr-FR" dirty="0">
                <a:latin typeface="Corbel" panose="020B0503020204020204" pitchFamily="34" charset="0"/>
              </a:rPr>
              <a:t>	</a:t>
            </a:r>
          </a:p>
        </p:txBody>
      </p:sp>
    </p:spTree>
    <p:extLst>
      <p:ext uri="{BB962C8B-B14F-4D97-AF65-F5344CB8AC3E}">
        <p14:creationId xmlns:p14="http://schemas.microsoft.com/office/powerpoint/2010/main" val="426609872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1248698" y="908914"/>
            <a:ext cx="3983783" cy="523220"/>
          </a:xfrm>
          <a:prstGeom prst="rect">
            <a:avLst/>
          </a:prstGeom>
          <a:noFill/>
        </p:spPr>
        <p:txBody>
          <a:bodyPr wrap="none" rtlCol="0">
            <a:spAutoFit/>
          </a:bodyPr>
          <a:lstStyle/>
          <a:p>
            <a:pPr marL="514350" indent="-514350">
              <a:buFont typeface="+mj-lt"/>
              <a:buAutoNum type="alphaLcParenR" startAt="2"/>
            </a:pPr>
            <a:r>
              <a:rPr lang="fr-FR" sz="2800" dirty="0">
                <a:solidFill>
                  <a:srgbClr val="FFFF00"/>
                </a:solidFill>
              </a:rPr>
              <a:t>Choix de la solution</a:t>
            </a:r>
          </a:p>
        </p:txBody>
      </p:sp>
      <p:sp>
        <p:nvSpPr>
          <p:cNvPr id="6" name="ZoneTexte 5">
            <a:extLst>
              <a:ext uri="{FF2B5EF4-FFF2-40B4-BE49-F238E27FC236}">
                <a16:creationId xmlns:a16="http://schemas.microsoft.com/office/drawing/2014/main" id="{494C165D-1EF4-4D0C-9DB0-FB8A3788D7C3}"/>
              </a:ext>
            </a:extLst>
          </p:cNvPr>
          <p:cNvSpPr txBox="1"/>
          <p:nvPr/>
        </p:nvSpPr>
        <p:spPr>
          <a:xfrm>
            <a:off x="1848466" y="1637040"/>
            <a:ext cx="4119715" cy="3970318"/>
          </a:xfrm>
          <a:prstGeom prst="rect">
            <a:avLst/>
          </a:prstGeom>
          <a:noFill/>
        </p:spPr>
        <p:txBody>
          <a:bodyPr wrap="square" rtlCol="0">
            <a:spAutoFit/>
          </a:bodyPr>
          <a:lstStyle/>
          <a:p>
            <a:r>
              <a:rPr lang="fr-FR" b="1" dirty="0">
                <a:solidFill>
                  <a:srgbClr val="FFFF00"/>
                </a:solidFill>
                <a:effectLst>
                  <a:outerShdw blurRad="38100" dist="38100" dir="2700000" algn="tl">
                    <a:srgbClr val="000000">
                      <a:alpha val="43137"/>
                    </a:srgbClr>
                  </a:outerShdw>
                </a:effectLst>
                <a:latin typeface="Corbel" panose="020B0503020204020204" pitchFamily="34" charset="0"/>
              </a:rPr>
              <a:t>En terme de matériel:</a:t>
            </a:r>
          </a:p>
          <a:p>
            <a:r>
              <a:rPr lang="fr-FR" dirty="0">
                <a:latin typeface="Corbel" panose="020B0503020204020204" pitchFamily="34" charset="0"/>
              </a:rPr>
              <a:t>	Tout D’abord, on a commencé par configure le Raspberry qu’on a, ensuite après avoir que c’est impossible d’ouvrir les ports de nos box, j’ai parti vers un VPS (Virtual Private Server) notamment vers un Microsoft Azure VM.</a:t>
            </a:r>
          </a:p>
          <a:p>
            <a:r>
              <a:rPr lang="fr-FR" b="1" dirty="0">
                <a:solidFill>
                  <a:srgbClr val="FFFF00"/>
                </a:solidFill>
                <a:effectLst>
                  <a:outerShdw blurRad="38100" dist="38100" dir="2700000" algn="tl">
                    <a:srgbClr val="000000">
                      <a:alpha val="43137"/>
                    </a:srgbClr>
                  </a:outerShdw>
                </a:effectLst>
                <a:latin typeface="Corbel" panose="020B0503020204020204" pitchFamily="34" charset="0"/>
              </a:rPr>
              <a:t>En terme des outils: </a:t>
            </a:r>
          </a:p>
          <a:p>
            <a:r>
              <a:rPr lang="fr-FR" dirty="0">
                <a:latin typeface="Corbel" panose="020B0503020204020204" pitchFamily="34" charset="0"/>
              </a:rPr>
              <a:t>	- OpenVPN : On choisi cette solution pour le vpn parmi plusieurs, pour sa communauté et sa documentation vaste</a:t>
            </a:r>
          </a:p>
          <a:p>
            <a:r>
              <a:rPr lang="fr-FR" dirty="0">
                <a:latin typeface="Corbel" panose="020B0503020204020204" pitchFamily="34" charset="0"/>
              </a:rPr>
              <a:t>	- easy-rsa: C’est l’outils lequelle on utilisera pour générer les clées et les cetificats de connexion.</a:t>
            </a:r>
          </a:p>
        </p:txBody>
      </p:sp>
      <p:pic>
        <p:nvPicPr>
          <p:cNvPr id="5" name="Image 4">
            <a:extLst>
              <a:ext uri="{FF2B5EF4-FFF2-40B4-BE49-F238E27FC236}">
                <a16:creationId xmlns:a16="http://schemas.microsoft.com/office/drawing/2014/main" id="{3041F798-05A5-42A8-853E-6927B0CEB6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3993" y="4842326"/>
            <a:ext cx="1586884" cy="1586884"/>
          </a:xfrm>
          <a:prstGeom prst="rect">
            <a:avLst/>
          </a:prstGeom>
        </p:spPr>
      </p:pic>
      <p:pic>
        <p:nvPicPr>
          <p:cNvPr id="7" name="Image 6">
            <a:extLst>
              <a:ext uri="{FF2B5EF4-FFF2-40B4-BE49-F238E27FC236}">
                <a16:creationId xmlns:a16="http://schemas.microsoft.com/office/drawing/2014/main" id="{945ABEEA-2DC6-4B82-A37C-25B01DE74A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50760" y="687505"/>
            <a:ext cx="900000" cy="900000"/>
          </a:xfrm>
          <a:prstGeom prst="rect">
            <a:avLst/>
          </a:prstGeom>
          <a:noFill/>
        </p:spPr>
      </p:pic>
      <p:pic>
        <p:nvPicPr>
          <p:cNvPr id="3" name="Image 2" descr="Une image contenant graphiques vectoriels&#10;&#10;Description générée automatiquement">
            <a:extLst>
              <a:ext uri="{FF2B5EF4-FFF2-40B4-BE49-F238E27FC236}">
                <a16:creationId xmlns:a16="http://schemas.microsoft.com/office/drawing/2014/main" id="{18C51FF8-BA2B-4CDA-A319-6382A6F124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85471" y="2075738"/>
            <a:ext cx="2924712" cy="1949808"/>
          </a:xfrm>
          <a:prstGeom prst="rect">
            <a:avLst/>
          </a:prstGeom>
        </p:spPr>
      </p:pic>
      <p:cxnSp>
        <p:nvCxnSpPr>
          <p:cNvPr id="9" name="Connecteur droit avec flèche 8">
            <a:extLst>
              <a:ext uri="{FF2B5EF4-FFF2-40B4-BE49-F238E27FC236}">
                <a16:creationId xmlns:a16="http://schemas.microsoft.com/office/drawing/2014/main" id="{14042A94-6BF9-4004-BBD4-AF3F9B29AA78}"/>
              </a:ext>
            </a:extLst>
          </p:cNvPr>
          <p:cNvCxnSpPr>
            <a:cxnSpLocks/>
          </p:cNvCxnSpPr>
          <p:nvPr/>
        </p:nvCxnSpPr>
        <p:spPr>
          <a:xfrm flipV="1">
            <a:off x="8419001" y="3686048"/>
            <a:ext cx="695325" cy="115627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10" name="Connecteur droit avec flèche 9">
            <a:extLst>
              <a:ext uri="{FF2B5EF4-FFF2-40B4-BE49-F238E27FC236}">
                <a16:creationId xmlns:a16="http://schemas.microsoft.com/office/drawing/2014/main" id="{3FEB6979-7FAF-4BBF-ADEC-6229B655DF21}"/>
              </a:ext>
            </a:extLst>
          </p:cNvPr>
          <p:cNvCxnSpPr>
            <a:cxnSpLocks/>
          </p:cNvCxnSpPr>
          <p:nvPr/>
        </p:nvCxnSpPr>
        <p:spPr>
          <a:xfrm flipV="1">
            <a:off x="7987435" y="1949086"/>
            <a:ext cx="0" cy="2824416"/>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15" name="Image 14" descr="Une image contenant texte&#10;&#10;Description générée automatiquement">
            <a:extLst>
              <a:ext uri="{FF2B5EF4-FFF2-40B4-BE49-F238E27FC236}">
                <a16:creationId xmlns:a16="http://schemas.microsoft.com/office/drawing/2014/main" id="{5EEDA192-297C-40CA-BA79-95BB13A25E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15432" y="468119"/>
            <a:ext cx="2445350" cy="1283808"/>
          </a:xfrm>
          <a:prstGeom prst="rect">
            <a:avLst/>
          </a:prstGeom>
        </p:spPr>
      </p:pic>
      <p:sp>
        <p:nvSpPr>
          <p:cNvPr id="22" name="Signe de multiplication 21">
            <a:extLst>
              <a:ext uri="{FF2B5EF4-FFF2-40B4-BE49-F238E27FC236}">
                <a16:creationId xmlns:a16="http://schemas.microsoft.com/office/drawing/2014/main" id="{A6AD763C-0F2E-42FC-8BE9-0C19AC0B0D39}"/>
              </a:ext>
            </a:extLst>
          </p:cNvPr>
          <p:cNvSpPr/>
          <p:nvPr/>
        </p:nvSpPr>
        <p:spPr>
          <a:xfrm>
            <a:off x="8534401" y="2458134"/>
            <a:ext cx="1574502" cy="1346950"/>
          </a:xfrm>
          <a:prstGeom prst="mathMultiply">
            <a:avLst/>
          </a:prstGeom>
          <a:solidFill>
            <a:srgbClr val="FF0000">
              <a:alpha val="50000"/>
            </a:srgbClr>
          </a:solidFill>
          <a:ln>
            <a:solidFill>
              <a:srgbClr val="FF0000"/>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8452791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a:pPr>
            <a:r>
              <a:rPr lang="fr-FR" sz="1400" dirty="0">
                <a:solidFill>
                  <a:srgbClr val="FFFF00"/>
                </a:solidFill>
              </a:rPr>
              <a:t>Génération des fichiers d’authentification</a:t>
            </a:r>
          </a:p>
        </p:txBody>
      </p:sp>
      <p:sp>
        <p:nvSpPr>
          <p:cNvPr id="6" name="ZoneTexte 5">
            <a:extLst>
              <a:ext uri="{FF2B5EF4-FFF2-40B4-BE49-F238E27FC236}">
                <a16:creationId xmlns:a16="http://schemas.microsoft.com/office/drawing/2014/main" id="{494C165D-1EF4-4D0C-9DB0-FB8A3788D7C3}"/>
              </a:ext>
            </a:extLst>
          </p:cNvPr>
          <p:cNvSpPr txBox="1"/>
          <p:nvPr/>
        </p:nvSpPr>
        <p:spPr>
          <a:xfrm>
            <a:off x="658763" y="1304925"/>
            <a:ext cx="9222658" cy="8309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d’abord</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me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connecte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vers</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ma machine à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l’aide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de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ssh</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p>
          <a:p>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j’ai</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mets</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une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ip</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fixe pour ma VM</a:t>
            </a:r>
          </a:p>
          <a:p>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/home/</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mobaxterm</a:t>
            </a:r>
            <a:r>
              <a:rPr lang="en-US" sz="1200" dirty="0">
                <a:latin typeface="Cascadia Code" panose="020B0609020000020004" pitchFamily="49" charset="0"/>
                <a:ea typeface="Cascadia Code" panose="020B0609020000020004" pitchFamily="49" charset="0"/>
                <a:cs typeface="Cascadia Code" panose="020B0609020000020004" pitchFamily="49" charset="0"/>
              </a:rPr>
              <a:t> 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ssh</a:t>
            </a:r>
            <a:r>
              <a:rPr lang="en-US" sz="1200" dirty="0">
                <a:latin typeface="Cascadia Code" panose="020B0609020000020004" pitchFamily="49" charset="0"/>
                <a:ea typeface="Cascadia Code" panose="020B0609020000020004" pitchFamily="49" charset="0"/>
                <a:cs typeface="Cascadia Code" panose="020B0609020000020004" pitchFamily="49" charset="0"/>
              </a:rPr>
              <a:t> bam@20.224.137.222</a:t>
            </a:r>
            <a:endParaRPr lang="fr-FR" sz="12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5" name="ZoneTexte 4">
            <a:extLst>
              <a:ext uri="{FF2B5EF4-FFF2-40B4-BE49-F238E27FC236}">
                <a16:creationId xmlns:a16="http://schemas.microsoft.com/office/drawing/2014/main" id="{29DDB9DC-775A-453A-A9C9-A0999A641CF7}"/>
              </a:ext>
            </a:extLst>
          </p:cNvPr>
          <p:cNvSpPr txBox="1"/>
          <p:nvPr/>
        </p:nvSpPr>
        <p:spPr>
          <a:xfrm>
            <a:off x="658763" y="2472682"/>
            <a:ext cx="9222658" cy="267765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j’initialise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un mot de passe pout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root, pour passer et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travailler</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en</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root</a:t>
            </a:r>
          </a:p>
          <a:p>
            <a:r>
              <a:rPr lang="en-US" sz="1200" dirty="0" err="1">
                <a:latin typeface="Cascadia Code" panose="020B0609020000020004" pitchFamily="49" charset="0"/>
                <a:ea typeface="Cascadia Code" panose="020B0609020000020004" pitchFamily="49" charset="0"/>
                <a:cs typeface="Cascadia Code" panose="020B0609020000020004" pitchFamily="49" charset="0"/>
              </a:rPr>
              <a:t>bam@vpnserver</a:t>
            </a:r>
            <a:r>
              <a:rPr lang="en-US" sz="1200" dirty="0">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sudo</a:t>
            </a:r>
            <a:r>
              <a:rPr lang="en-US" sz="1200" dirty="0">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su</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root@vpnserver:/home/bam# passwd</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New password:</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Retype new password:</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passwd: password updated successfully</a:t>
            </a:r>
          </a:p>
          <a:p>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j’ai</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fait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une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mise à jour ensuite j’installe les outies necessaires {Easy-Rsa 3 , OpenVPN}</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fr-FR" sz="1200" dirty="0" err="1">
                <a:latin typeface="Cascadia Code" panose="020B0609020000020004" pitchFamily="49" charset="0"/>
                <a:ea typeface="Cascadia Code" panose="020B0609020000020004" pitchFamily="49" charset="0"/>
                <a:cs typeface="Cascadia Code" panose="020B0609020000020004" pitchFamily="49" charset="0"/>
              </a:rPr>
              <a:t>root@vpnserver</a:t>
            </a:r>
            <a:r>
              <a:rPr lang="fr-FR" sz="1200" dirty="0">
                <a:latin typeface="Cascadia Code" panose="020B0609020000020004" pitchFamily="49" charset="0"/>
                <a:ea typeface="Cascadia Code" panose="020B0609020000020004" pitchFamily="49" charset="0"/>
                <a:cs typeface="Cascadia Code" panose="020B0609020000020004" pitchFamily="49" charset="0"/>
              </a:rPr>
              <a:t>:/home/</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bam</a:t>
            </a:r>
            <a:r>
              <a:rPr lang="fr-FR" sz="1200" dirty="0">
                <a:latin typeface="Cascadia Code" panose="020B0609020000020004" pitchFamily="49" charset="0"/>
                <a:ea typeface="Cascadia Code" panose="020B0609020000020004" pitchFamily="49" charset="0"/>
                <a:cs typeface="Cascadia Code" panose="020B0609020000020004" pitchFamily="49" charset="0"/>
              </a:rPr>
              <a:t># </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apt</a:t>
            </a:r>
            <a:r>
              <a:rPr lang="fr-FR" sz="1200" dirty="0">
                <a:latin typeface="Cascadia Code" panose="020B0609020000020004" pitchFamily="49" charset="0"/>
                <a:ea typeface="Cascadia Code" panose="020B0609020000020004" pitchFamily="49" charset="0"/>
                <a:cs typeface="Cascadia Code" panose="020B0609020000020004" pitchFamily="49" charset="0"/>
              </a:rPr>
              <a:t> update</a:t>
            </a:r>
          </a:p>
          <a:p>
            <a:r>
              <a:rPr lang="sv-SE" sz="1200" dirty="0">
                <a:latin typeface="Cascadia Code" panose="020B0609020000020004" pitchFamily="49" charset="0"/>
                <a:ea typeface="Cascadia Code" panose="020B0609020000020004" pitchFamily="49" charset="0"/>
                <a:cs typeface="Cascadia Code" panose="020B0609020000020004" pitchFamily="49" charset="0"/>
              </a:rPr>
              <a:t>root@vpnserver:/home/bam# apt upgrad</a:t>
            </a:r>
          </a:p>
          <a:p>
            <a:endParaRPr lang="sv-SE" sz="1200" dirty="0">
              <a:latin typeface="Cascadia Code" panose="020B0609020000020004" pitchFamily="49" charset="0"/>
              <a:ea typeface="Cascadia Code" panose="020B0609020000020004" pitchFamily="49" charset="0"/>
              <a:cs typeface="Cascadia Code" panose="020B0609020000020004" pitchFamily="49" charset="0"/>
            </a:endParaRPr>
          </a:p>
          <a:p>
            <a:r>
              <a:rPr lang="fr-FR" sz="1200" dirty="0" err="1">
                <a:latin typeface="Cascadia Code" panose="020B0609020000020004" pitchFamily="49" charset="0"/>
                <a:ea typeface="Cascadia Code" panose="020B0609020000020004" pitchFamily="49" charset="0"/>
                <a:cs typeface="Cascadia Code" panose="020B0609020000020004" pitchFamily="49" charset="0"/>
              </a:rPr>
              <a:t>root@vpnserver</a:t>
            </a:r>
            <a:r>
              <a:rPr lang="fr-FR" sz="1200" dirty="0">
                <a:latin typeface="Cascadia Code" panose="020B0609020000020004" pitchFamily="49" charset="0"/>
                <a:ea typeface="Cascadia Code" panose="020B0609020000020004" pitchFamily="49" charset="0"/>
                <a:cs typeface="Cascadia Code" panose="020B0609020000020004" pitchFamily="49" charset="0"/>
              </a:rPr>
              <a:t>:/home/</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bam</a:t>
            </a:r>
            <a:r>
              <a:rPr lang="fr-FR" sz="1200" dirty="0">
                <a:latin typeface="Cascadia Code" panose="020B0609020000020004" pitchFamily="49" charset="0"/>
                <a:ea typeface="Cascadia Code" panose="020B0609020000020004" pitchFamily="49" charset="0"/>
                <a:cs typeface="Cascadia Code" panose="020B0609020000020004" pitchFamily="49" charset="0"/>
              </a:rPr>
              <a:t># </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apt</a:t>
            </a:r>
            <a:r>
              <a:rPr lang="fr-FR" sz="1200" dirty="0">
                <a:latin typeface="Cascadia Code" panose="020B0609020000020004" pitchFamily="49" charset="0"/>
                <a:ea typeface="Cascadia Code" panose="020B0609020000020004" pitchFamily="49" charset="0"/>
                <a:cs typeface="Cascadia Code" panose="020B0609020000020004" pitchFamily="49" charset="0"/>
              </a:rPr>
              <a:t> </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install</a:t>
            </a:r>
            <a:r>
              <a:rPr lang="fr-FR" sz="1200" dirty="0">
                <a:latin typeface="Cascadia Code" panose="020B0609020000020004" pitchFamily="49" charset="0"/>
                <a:ea typeface="Cascadia Code" panose="020B0609020000020004" pitchFamily="49" charset="0"/>
                <a:cs typeface="Cascadia Code" panose="020B0609020000020004" pitchFamily="49" charset="0"/>
              </a:rPr>
              <a:t> </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openvpn</a:t>
            </a:r>
            <a:endParaRPr lang="fr-FR" sz="1200" dirty="0">
              <a:latin typeface="Cascadia Code" panose="020B0609020000020004" pitchFamily="49" charset="0"/>
              <a:ea typeface="Cascadia Code" panose="020B0609020000020004" pitchFamily="49" charset="0"/>
              <a:cs typeface="Cascadia Code" panose="020B0609020000020004" pitchFamily="49" charset="0"/>
            </a:endParaRPr>
          </a:p>
          <a:p>
            <a:endParaRPr lang="fr-FR"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root@vpnserver:/home/bam# apt install easy-rsa</a:t>
            </a:r>
            <a:endParaRPr lang="fr-FR" sz="12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7" name="ZoneTexte 6">
            <a:extLst>
              <a:ext uri="{FF2B5EF4-FFF2-40B4-BE49-F238E27FC236}">
                <a16:creationId xmlns:a16="http://schemas.microsoft.com/office/drawing/2014/main" id="{3FF2DB1E-88D5-4A08-AC66-42AA429D29F4}"/>
              </a:ext>
            </a:extLst>
          </p:cNvPr>
          <p:cNvSpPr txBox="1"/>
          <p:nvPr/>
        </p:nvSpPr>
        <p:spPr>
          <a:xfrm>
            <a:off x="273338" y="304137"/>
            <a:ext cx="2649828" cy="523220"/>
          </a:xfrm>
          <a:prstGeom prst="rect">
            <a:avLst/>
          </a:prstGeom>
          <a:noFill/>
        </p:spPr>
        <p:txBody>
          <a:bodyPr wrap="none" rtlCol="0">
            <a:spAutoFit/>
          </a:bodyPr>
          <a:lstStyle/>
          <a:p>
            <a:pPr marL="514350" indent="-514350">
              <a:buFont typeface="+mj-lt"/>
              <a:buAutoNum type="arabicPeriod" startAt="2"/>
            </a:pPr>
            <a:r>
              <a:rPr lang="fr-FR" sz="2800" dirty="0">
                <a:solidFill>
                  <a:srgbClr val="FFFF00"/>
                </a:solidFill>
              </a:rPr>
              <a:t>Coté Server</a:t>
            </a:r>
          </a:p>
        </p:txBody>
      </p:sp>
    </p:spTree>
    <p:extLst>
      <p:ext uri="{BB962C8B-B14F-4D97-AF65-F5344CB8AC3E}">
        <p14:creationId xmlns:p14="http://schemas.microsoft.com/office/powerpoint/2010/main" val="182362553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a:pPr>
            <a:r>
              <a:rPr lang="fr-FR" sz="1400" dirty="0">
                <a:solidFill>
                  <a:srgbClr val="FFFF00"/>
                </a:solidFill>
              </a:rPr>
              <a:t>Génération des fichiers d’authentification</a:t>
            </a:r>
          </a:p>
        </p:txBody>
      </p:sp>
      <p:sp>
        <p:nvSpPr>
          <p:cNvPr id="5" name="ZoneTexte 4">
            <a:extLst>
              <a:ext uri="{FF2B5EF4-FFF2-40B4-BE49-F238E27FC236}">
                <a16:creationId xmlns:a16="http://schemas.microsoft.com/office/drawing/2014/main" id="{29DDB9DC-775A-453A-A9C9-A0999A641CF7}"/>
              </a:ext>
            </a:extLst>
          </p:cNvPr>
          <p:cNvSpPr txBox="1"/>
          <p:nvPr/>
        </p:nvSpPr>
        <p:spPr>
          <a:xfrm>
            <a:off x="416028" y="214451"/>
            <a:ext cx="11276861" cy="5632311"/>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pt-BR" sz="1200" dirty="0">
                <a:latin typeface="Cascadia Code" panose="020B0609020000020004" pitchFamily="49" charset="0"/>
                <a:ea typeface="Cascadia Code" panose="020B0609020000020004" pitchFamily="49" charset="0"/>
                <a:cs typeface="Cascadia Code" panose="020B0609020000020004" pitchFamily="49" charset="0"/>
              </a:rPr>
              <a:t>root@vpnserver:/home/bam# cp -r /usr/share/easy-rsa /etc/        </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cree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une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copie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du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easy-rsa dans /etc/ </a:t>
            </a:r>
            <a:endParaRPr lang="pt-BR" sz="1200" dirty="0">
              <a:latin typeface="Cascadia Code" panose="020B0609020000020004" pitchFamily="49" charset="0"/>
              <a:ea typeface="Cascadia Code" panose="020B0609020000020004" pitchFamily="49" charset="0"/>
              <a:cs typeface="Cascadia Code" panose="020B0609020000020004" pitchFamily="49" charset="0"/>
            </a:endParaRPr>
          </a:p>
          <a:p>
            <a:r>
              <a:rPr lang="fr-FR" sz="1200" dirty="0" err="1">
                <a:latin typeface="Cascadia Code" panose="020B0609020000020004" pitchFamily="49" charset="0"/>
                <a:ea typeface="Cascadia Code" panose="020B0609020000020004" pitchFamily="49" charset="0"/>
                <a:cs typeface="Cascadia Code" panose="020B0609020000020004" pitchFamily="49" charset="0"/>
              </a:rPr>
              <a:t>root@vpnserver</a:t>
            </a:r>
            <a:r>
              <a:rPr lang="fr-FR" sz="1200" dirty="0">
                <a:latin typeface="Cascadia Code" panose="020B0609020000020004" pitchFamily="49" charset="0"/>
                <a:ea typeface="Cascadia Code" panose="020B0609020000020004" pitchFamily="49" charset="0"/>
                <a:cs typeface="Cascadia Code" panose="020B0609020000020004" pitchFamily="49" charset="0"/>
              </a:rPr>
              <a:t>:/home/</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bam</a:t>
            </a:r>
            <a:r>
              <a:rPr lang="fr-FR" sz="1200" dirty="0">
                <a:latin typeface="Cascadia Code" panose="020B0609020000020004" pitchFamily="49" charset="0"/>
                <a:ea typeface="Cascadia Code" panose="020B0609020000020004" pitchFamily="49" charset="0"/>
                <a:cs typeface="Cascadia Code" panose="020B0609020000020004" pitchFamily="49" charset="0"/>
              </a:rPr>
              <a:t># cd /</a:t>
            </a:r>
            <a:r>
              <a:rPr lang="fr-FR" sz="1200" dirty="0" err="1">
                <a:latin typeface="Cascadia Code" panose="020B0609020000020004" pitchFamily="49" charset="0"/>
                <a:ea typeface="Cascadia Code" panose="020B0609020000020004" pitchFamily="49" charset="0"/>
                <a:cs typeface="Cascadia Code" panose="020B0609020000020004" pitchFamily="49" charset="0"/>
              </a:rPr>
              <a:t>etc</a:t>
            </a:r>
            <a:r>
              <a:rPr lang="fr-FR" sz="1200" dirty="0">
                <a:latin typeface="Cascadia Code" panose="020B0609020000020004" pitchFamily="49" charset="0"/>
                <a:ea typeface="Cascadia Code" panose="020B0609020000020004" pitchFamily="49" charset="0"/>
                <a:cs typeface="Cascadia Code" panose="020B0609020000020004" pitchFamily="49" charset="0"/>
              </a:rPr>
              <a:t>/easy-rsa/</a:t>
            </a:r>
            <a:endParaRPr lang="pt-BR"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root@vpnserver:/etc/easy-rsa# ./easyrsa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init-pki</a:t>
            </a:r>
            <a:r>
              <a:rPr lang="en-US" sz="1200" dirty="0">
                <a:latin typeface="Cascadia Code" panose="020B0609020000020004" pitchFamily="49" charset="0"/>
                <a:ea typeface="Cascadia Code" panose="020B0609020000020004" pitchFamily="49" charset="0"/>
                <a:cs typeface="Cascadia Code" panose="020B0609020000020004" pitchFamily="49" charset="0"/>
              </a:rPr>
              <a:t>    </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cree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 dossier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pki</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qui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contenir</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mes</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d’authentication</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err="1">
                <a:latin typeface="Cascadia Code" panose="020B0609020000020004" pitchFamily="49" charset="0"/>
                <a:ea typeface="Cascadia Code" panose="020B0609020000020004" pitchFamily="49" charset="0"/>
                <a:cs typeface="Cascadia Code" panose="020B0609020000020004" pitchFamily="49" charset="0"/>
              </a:rPr>
              <a:t>init-pki</a:t>
            </a:r>
            <a:r>
              <a:rPr lang="en-US" sz="1200" dirty="0">
                <a:latin typeface="Cascadia Code" panose="020B0609020000020004" pitchFamily="49" charset="0"/>
                <a:ea typeface="Cascadia Code" panose="020B0609020000020004" pitchFamily="49" charset="0"/>
                <a:cs typeface="Cascadia Code" panose="020B0609020000020004" pitchFamily="49" charset="0"/>
              </a:rPr>
              <a:t> complete; you may now create a CA or requests.</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Your newly created PKI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dir</a:t>
            </a:r>
            <a:r>
              <a:rPr lang="en-US" sz="1200" dirty="0">
                <a:latin typeface="Cascadia Code" panose="020B0609020000020004" pitchFamily="49" charset="0"/>
                <a:ea typeface="Cascadia Code" panose="020B0609020000020004" pitchFamily="49" charset="0"/>
                <a:cs typeface="Cascadia Code" panose="020B0609020000020004" pitchFamily="49" charset="0"/>
              </a:rPr>
              <a:t> is: /etc/easy-rsa/</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pki</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endParaRPr lang="pt-BR"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root@vpnserver:/etc/easy-rsa# ./easyrsa build-ca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nopass</a:t>
            </a:r>
            <a:r>
              <a:rPr lang="en-US" sz="1200" dirty="0">
                <a:latin typeface="Cascadia Code" panose="020B0609020000020004" pitchFamily="49" charset="0"/>
                <a:ea typeface="Cascadia Code" panose="020B0609020000020004" pitchFamily="49" charset="0"/>
                <a:cs typeface="Cascadia Code" panose="020B0609020000020004" pitchFamily="49" charset="0"/>
              </a:rPr>
              <a:t>  </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cree</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20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a:t>
            </a:r>
            <a:r>
              <a:rPr lang="en-US" sz="120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ca.crt</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Using SSL: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openssl</a:t>
            </a:r>
            <a:r>
              <a:rPr lang="en-US" sz="1200" dirty="0">
                <a:latin typeface="Cascadia Code" panose="020B0609020000020004" pitchFamily="49" charset="0"/>
                <a:ea typeface="Cascadia Code" panose="020B0609020000020004" pitchFamily="49" charset="0"/>
                <a:cs typeface="Cascadia Code" panose="020B0609020000020004" pitchFamily="49" charset="0"/>
              </a:rPr>
              <a:t> OpenSSL 1.1.1f  31 Mar 2020</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Generating RSA private key, 2048 bit long modulus (2 primes)</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e is 65537 (0x010001)</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Can't load /etc/easy-rsa/</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200" dirty="0">
                <a:latin typeface="Cascadia Code" panose="020B0609020000020004" pitchFamily="49" charset="0"/>
                <a:ea typeface="Cascadia Code" panose="020B0609020000020004" pitchFamily="49" charset="0"/>
                <a:cs typeface="Cascadia Code" panose="020B0609020000020004" pitchFamily="49" charset="0"/>
              </a:rPr>
              <a:t>/.</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rnd</a:t>
            </a:r>
            <a:r>
              <a:rPr lang="en-US" sz="1200" dirty="0">
                <a:latin typeface="Cascadia Code" panose="020B0609020000020004" pitchFamily="49" charset="0"/>
                <a:ea typeface="Cascadia Code" panose="020B0609020000020004" pitchFamily="49" charset="0"/>
                <a:cs typeface="Cascadia Code" panose="020B0609020000020004" pitchFamily="49" charset="0"/>
              </a:rPr>
              <a:t> into RNG</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140507530831168:error:2406F079:random number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generator:RAND_load_file:Cannot</a:t>
            </a:r>
            <a:r>
              <a:rPr lang="en-US" sz="1200" dirty="0">
                <a:latin typeface="Cascadia Code" panose="020B0609020000020004" pitchFamily="49" charset="0"/>
                <a:ea typeface="Cascadia Code" panose="020B0609020000020004" pitchFamily="49" charset="0"/>
                <a:cs typeface="Cascadia Code" panose="020B0609020000020004" pitchFamily="49" charset="0"/>
              </a:rPr>
              <a:t> open file:../crypto/rand/randfile.c:98:Filename=/etc/easy-rsa/</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200" dirty="0">
                <a:latin typeface="Cascadia Code" panose="020B0609020000020004" pitchFamily="49" charset="0"/>
                <a:ea typeface="Cascadia Code" panose="020B0609020000020004" pitchFamily="49" charset="0"/>
                <a:cs typeface="Cascadia Code" panose="020B0609020000020004" pitchFamily="49" charset="0"/>
              </a:rPr>
              <a:t>/.</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rnd</a:t>
            </a:r>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You are about to be asked to enter information that will be incorporated</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into your certificate request.</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What you are about to enter is what is called a Distinguished Name or a DN.</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There are quite a few fields but you can leave some blank</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For some fields there will be a default value,</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If you enter '.', the field will be left blank.</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Common Name (</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eg</a:t>
            </a:r>
            <a:r>
              <a:rPr lang="en-US" sz="1200" dirty="0">
                <a:latin typeface="Cascadia Code" panose="020B0609020000020004" pitchFamily="49" charset="0"/>
                <a:ea typeface="Cascadia Code" panose="020B0609020000020004" pitchFamily="49" charset="0"/>
                <a:cs typeface="Cascadia Code" panose="020B0609020000020004" pitchFamily="49" charset="0"/>
              </a:rPr>
              <a:t>: your user, host, or server name) [Easy-RSA CA]:server</a:t>
            </a:r>
          </a:p>
          <a:p>
            <a:endParaRPr lang="en-US" sz="1200" dirty="0">
              <a:latin typeface="Cascadia Code" panose="020B0609020000020004" pitchFamily="49" charset="0"/>
              <a:ea typeface="Cascadia Code" panose="020B0609020000020004" pitchFamily="49" charset="0"/>
              <a:cs typeface="Cascadia Code" panose="020B0609020000020004" pitchFamily="49" charset="0"/>
            </a:endParaRPr>
          </a:p>
          <a:p>
            <a:r>
              <a:rPr lang="en-US" sz="1200" dirty="0">
                <a:latin typeface="Cascadia Code" panose="020B0609020000020004" pitchFamily="49" charset="0"/>
                <a:ea typeface="Cascadia Code" panose="020B0609020000020004" pitchFamily="49" charset="0"/>
                <a:cs typeface="Cascadia Code" panose="020B0609020000020004" pitchFamily="49" charset="0"/>
              </a:rPr>
              <a:t>CA creation complete and you may now import and sign cert requests.</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Your new CA certificate file for publishing is at:</a:t>
            </a:r>
          </a:p>
          <a:p>
            <a:r>
              <a:rPr lang="en-US" sz="1200" dirty="0">
                <a:latin typeface="Cascadia Code" panose="020B0609020000020004" pitchFamily="49" charset="0"/>
                <a:ea typeface="Cascadia Code" panose="020B0609020000020004" pitchFamily="49" charset="0"/>
                <a:cs typeface="Cascadia Code" panose="020B0609020000020004" pitchFamily="49" charset="0"/>
              </a:rPr>
              <a:t>/etc/easy-rsa/</a:t>
            </a:r>
            <a:r>
              <a:rPr lang="en-US" sz="120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200" dirty="0">
                <a:latin typeface="Cascadia Code" panose="020B0609020000020004" pitchFamily="49" charset="0"/>
                <a:ea typeface="Cascadia Code" panose="020B0609020000020004" pitchFamily="49" charset="0"/>
                <a:cs typeface="Cascadia Code" panose="020B0609020000020004" pitchFamily="49" charset="0"/>
              </a:rPr>
              <a:t>/ca.crt</a:t>
            </a:r>
          </a:p>
        </p:txBody>
      </p:sp>
    </p:spTree>
    <p:extLst>
      <p:ext uri="{BB962C8B-B14F-4D97-AF65-F5344CB8AC3E}">
        <p14:creationId xmlns:p14="http://schemas.microsoft.com/office/powerpoint/2010/main" val="39949999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a:pPr>
            <a:r>
              <a:rPr lang="fr-FR" sz="1400" dirty="0">
                <a:solidFill>
                  <a:srgbClr val="FFFF00"/>
                </a:solidFill>
              </a:rPr>
              <a:t>Génération des fichiers d’authentification</a:t>
            </a:r>
          </a:p>
        </p:txBody>
      </p:sp>
      <p:sp>
        <p:nvSpPr>
          <p:cNvPr id="5" name="ZoneTexte 4">
            <a:extLst>
              <a:ext uri="{FF2B5EF4-FFF2-40B4-BE49-F238E27FC236}">
                <a16:creationId xmlns:a16="http://schemas.microsoft.com/office/drawing/2014/main" id="{29DDB9DC-775A-453A-A9C9-A0999A641CF7}"/>
              </a:ext>
            </a:extLst>
          </p:cNvPr>
          <p:cNvSpPr txBox="1"/>
          <p:nvPr/>
        </p:nvSpPr>
        <p:spPr>
          <a:xfrm>
            <a:off x="416028" y="214451"/>
            <a:ext cx="11276861" cy="639405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./easyrsa gen-dh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genere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Diffie–Hellman qui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difinir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la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méthode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d’échangemnt</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clés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SSL: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openssl</a:t>
            </a:r>
            <a:r>
              <a:rPr lang="en-US" sz="1050" dirty="0">
                <a:latin typeface="Cascadia Code" panose="020B0609020000020004" pitchFamily="49" charset="0"/>
                <a:ea typeface="Cascadia Code" panose="020B0609020000020004" pitchFamily="49" charset="0"/>
                <a:cs typeface="Cascadia Code" panose="020B0609020000020004" pitchFamily="49" charset="0"/>
              </a:rPr>
              <a:t> OpenSSL 1.1.1f  31 Mar 2020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Generating DH parameters, 2048 bit long safe prime, generator 2</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This is going to take a long time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DH parameters of size 2048 created at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dh.pem</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./easyrsa build-server-full 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nopass</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genere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serveur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SSL: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openssl</a:t>
            </a:r>
            <a:r>
              <a:rPr lang="en-US" sz="1050" dirty="0">
                <a:latin typeface="Cascadia Code" panose="020B0609020000020004" pitchFamily="49" charset="0"/>
                <a:ea typeface="Cascadia Code" panose="020B0609020000020004" pitchFamily="49" charset="0"/>
                <a:cs typeface="Cascadia Code" panose="020B0609020000020004" pitchFamily="49" charset="0"/>
              </a:rPr>
              <a:t> OpenSSL 1.1.1f  31 Mar 2020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Generating a RSA private key</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writing new private key to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/private/server.key.gEW6nCRXWj'</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configuration from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safessl-easyrsa.cnf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Check that the request matches the signature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Signature ok</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The Subject's Distinguished Name is as follows</a:t>
            </a:r>
          </a:p>
          <a:p>
            <a:r>
              <a:rPr lang="en-US" sz="1050" dirty="0" err="1">
                <a:latin typeface="Cascadia Code" panose="020B0609020000020004" pitchFamily="49" charset="0"/>
                <a:ea typeface="Cascadia Code" panose="020B0609020000020004" pitchFamily="49" charset="0"/>
                <a:cs typeface="Cascadia Code" panose="020B0609020000020004" pitchFamily="49" charset="0"/>
              </a:rPr>
              <a:t>commonName</a:t>
            </a:r>
            <a:r>
              <a:rPr lang="en-US" sz="1050" dirty="0">
                <a:latin typeface="Cascadia Code" panose="020B0609020000020004" pitchFamily="49" charset="0"/>
                <a:ea typeface="Cascadia Code" panose="020B0609020000020004" pitchFamily="49" charset="0"/>
                <a:cs typeface="Cascadia Code" panose="020B0609020000020004" pitchFamily="49" charset="0"/>
              </a:rPr>
              <a:t>            :ASN.1 12:'server'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Certificate is to be certified until Mar 26 22:45:01 2025 GMT (1080 days)</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Write out database with 1 new entries</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Data Base Updated</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root@vpnserver:/etc/easy-rsa# </a:t>
            </a:r>
            <a:r>
              <a:rPr lang="en-US" sz="105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genkey</a:t>
            </a:r>
            <a:r>
              <a:rPr lang="en-US" sz="105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 --secret /etc/easy-rsa/</a:t>
            </a:r>
            <a:r>
              <a:rPr lang="en-US" sz="105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solidFill>
                  <a:schemeClr val="bg1"/>
                </a:solidFill>
                <a:latin typeface="Cascadia Code" panose="020B0609020000020004" pitchFamily="49" charset="0"/>
                <a:ea typeface="Cascadia Code" panose="020B0609020000020004" pitchFamily="49" charset="0"/>
                <a:cs typeface="Cascadia Code" panose="020B0609020000020004" pitchFamily="49" charset="0"/>
              </a:rPr>
              <a:t>ta.key</a:t>
            </a:r>
            <a:endParaRPr lang="en-US" sz="1050" dirty="0">
              <a:solidFill>
                <a:schemeClr val="bg1"/>
              </a:solidFill>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./easyrsa gen-</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crl</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genere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crl.pem</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qui a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comme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role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bloquer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clients qui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ont</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pas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certificats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d’auth</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à acceder à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serveur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SSL: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openssl</a:t>
            </a:r>
            <a:r>
              <a:rPr lang="en-US" sz="1050" dirty="0">
                <a:latin typeface="Cascadia Code" panose="020B0609020000020004" pitchFamily="49" charset="0"/>
                <a:ea typeface="Cascadia Code" panose="020B0609020000020004" pitchFamily="49" charset="0"/>
                <a:cs typeface="Cascadia Code" panose="020B0609020000020004" pitchFamily="49" charset="0"/>
              </a:rPr>
              <a:t> OpenSSL 1.1.1f  31 Mar 2020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configuration from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safessl-easyrsa.cnf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An updated CRL has been created.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CRL file: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crl.pem</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2687831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a:pPr>
            <a:r>
              <a:rPr lang="fr-FR" sz="1400" dirty="0">
                <a:solidFill>
                  <a:srgbClr val="FFFF00"/>
                </a:solidFill>
              </a:rPr>
              <a:t>Génération des fichiers d’authentification</a:t>
            </a:r>
          </a:p>
        </p:txBody>
      </p:sp>
      <p:sp>
        <p:nvSpPr>
          <p:cNvPr id="5" name="ZoneTexte 4">
            <a:extLst>
              <a:ext uri="{FF2B5EF4-FFF2-40B4-BE49-F238E27FC236}">
                <a16:creationId xmlns:a16="http://schemas.microsoft.com/office/drawing/2014/main" id="{29DDB9DC-775A-453A-A9C9-A0999A641CF7}"/>
              </a:ext>
            </a:extLst>
          </p:cNvPr>
          <p:cNvSpPr txBox="1"/>
          <p:nvPr/>
        </p:nvSpPr>
        <p:spPr>
          <a:xfrm>
            <a:off x="416028" y="214451"/>
            <a:ext cx="11276861" cy="6394058"/>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copie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serveur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/server</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cp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rp</a:t>
            </a:r>
            <a:r>
              <a:rPr lang="en-US" sz="1050" dirty="0">
                <a:latin typeface="Cascadia Code" panose="020B0609020000020004" pitchFamily="49" charset="0"/>
                <a:ea typeface="Cascadia Code" panose="020B0609020000020004" pitchFamily="49" charset="0"/>
                <a:cs typeface="Cascadia Code" panose="020B0609020000020004" pitchFamily="49" charset="0"/>
              </a:rPr>
              <a:t>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ca.crt,dh.pem,ta.key,crl.pem,issued,private</a:t>
            </a:r>
            <a:r>
              <a:rPr lang="en-US" sz="1050" dirty="0">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cree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premier client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cela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generer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./private/</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Bamhammed.key</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et ./issued/Bamhammed.crt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./easyrsa build-client-full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nopass</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SSL: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openssl</a:t>
            </a:r>
            <a:r>
              <a:rPr lang="en-US" sz="1050" dirty="0">
                <a:latin typeface="Cascadia Code" panose="020B0609020000020004" pitchFamily="49" charset="0"/>
                <a:ea typeface="Cascadia Code" panose="020B0609020000020004" pitchFamily="49" charset="0"/>
                <a:cs typeface="Cascadia Code" panose="020B0609020000020004" pitchFamily="49" charset="0"/>
              </a:rPr>
              <a:t> OpenSSL 1.1.1f  31 Mar 2020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Generating a RSA private key</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writing new private key to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/private/bamhammed.key.JHKeo40c2V'</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configuration from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safessl-easyrsa.cnf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Check that the request matches the signature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Signature ok</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The Subject's Distinguished Name is as follows</a:t>
            </a:r>
          </a:p>
          <a:p>
            <a:r>
              <a:rPr lang="en-US" sz="1050" dirty="0" err="1">
                <a:latin typeface="Cascadia Code" panose="020B0609020000020004" pitchFamily="49" charset="0"/>
                <a:ea typeface="Cascadia Code" panose="020B0609020000020004" pitchFamily="49" charset="0"/>
                <a:cs typeface="Cascadia Code" panose="020B0609020000020004" pitchFamily="49" charset="0"/>
              </a:rPr>
              <a:t>commonName</a:t>
            </a:r>
            <a:r>
              <a:rPr lang="en-US" sz="1050" dirty="0">
                <a:latin typeface="Cascadia Code" panose="020B0609020000020004" pitchFamily="49" charset="0"/>
                <a:ea typeface="Cascadia Code" panose="020B0609020000020004" pitchFamily="49" charset="0"/>
                <a:cs typeface="Cascadia Code" panose="020B0609020000020004" pitchFamily="49" charset="0"/>
              </a:rPr>
              <a:t>            :ASN.1 12:'bamhammed'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Certificate is to be certified until Mar 26 22:48:04 2025 GMT (1080 days)</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Write out database with 1 new entries</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Data Base Updated</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cree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premier client ‘client2’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cela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generer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./private/client2.key et ./issued/client2.crt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./easyrsa build-client-full client2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nopass</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SSL: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openssl</a:t>
            </a:r>
            <a:r>
              <a:rPr lang="en-US" sz="1050" dirty="0">
                <a:latin typeface="Cascadia Code" panose="020B0609020000020004" pitchFamily="49" charset="0"/>
                <a:ea typeface="Cascadia Code" panose="020B0609020000020004" pitchFamily="49" charset="0"/>
                <a:cs typeface="Cascadia Code" panose="020B0609020000020004" pitchFamily="49" charset="0"/>
              </a:rPr>
              <a:t> OpenSSL 1.1.1f  31 Mar 2020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Generating a RSA private key</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writing new private key to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/private/client2.key.nCn8cC8F60'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Using configuration from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safessl-easyrsa.cnf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Check that the request matches the signature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Signature ok</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The Subject's Distinguished Name is as follows</a:t>
            </a:r>
          </a:p>
          <a:p>
            <a:r>
              <a:rPr lang="en-US" sz="1050" dirty="0" err="1">
                <a:latin typeface="Cascadia Code" panose="020B0609020000020004" pitchFamily="49" charset="0"/>
                <a:ea typeface="Cascadia Code" panose="020B0609020000020004" pitchFamily="49" charset="0"/>
                <a:cs typeface="Cascadia Code" panose="020B0609020000020004" pitchFamily="49" charset="0"/>
              </a:rPr>
              <a:t>commonName</a:t>
            </a:r>
            <a:r>
              <a:rPr lang="en-US" sz="1050" dirty="0">
                <a:latin typeface="Cascadia Code" panose="020B0609020000020004" pitchFamily="49" charset="0"/>
                <a:ea typeface="Cascadia Code" panose="020B0609020000020004" pitchFamily="49" charset="0"/>
                <a:cs typeface="Cascadia Code" panose="020B0609020000020004" pitchFamily="49" charset="0"/>
              </a:rPr>
              <a:t>            :ASN.1 12:'client2'</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Certificate is to be certified until Mar 26 22:48:52 2025 GMT (1080 days)</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Write out database with 1 new entries</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Data Base Updated</a:t>
            </a:r>
          </a:p>
        </p:txBody>
      </p:sp>
    </p:spTree>
    <p:extLst>
      <p:ext uri="{BB962C8B-B14F-4D97-AF65-F5344CB8AC3E}">
        <p14:creationId xmlns:p14="http://schemas.microsoft.com/office/powerpoint/2010/main" val="329820130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a:pPr>
            <a:r>
              <a:rPr lang="fr-FR" sz="1400" dirty="0">
                <a:solidFill>
                  <a:srgbClr val="FFFF00"/>
                </a:solidFill>
              </a:rPr>
              <a:t>Génération des fichiers d’authentification</a:t>
            </a:r>
          </a:p>
        </p:txBody>
      </p:sp>
      <p:sp>
        <p:nvSpPr>
          <p:cNvPr id="5" name="ZoneTexte 4">
            <a:extLst>
              <a:ext uri="{FF2B5EF4-FFF2-40B4-BE49-F238E27FC236}">
                <a16:creationId xmlns:a16="http://schemas.microsoft.com/office/drawing/2014/main" id="{29DDB9DC-775A-453A-A9C9-A0999A641CF7}"/>
              </a:ext>
            </a:extLst>
          </p:cNvPr>
          <p:cNvSpPr txBox="1"/>
          <p:nvPr/>
        </p:nvSpPr>
        <p:spPr>
          <a:xfrm>
            <a:off x="282678" y="2243276"/>
            <a:ext cx="11276861" cy="2031325"/>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je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finie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la configuration de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d’authentification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par les arranger dans les dossier</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/etc/</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 pour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 de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mon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serveur</a:t>
            </a:r>
            <a:endPar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endParaRP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/etc/</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/client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 pour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fichiers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 de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mes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rPr>
              <a:t> clients</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mkdir</a:t>
            </a:r>
            <a:r>
              <a:rPr lang="en-US" sz="1050" dirty="0">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/client/{bamhammed,client2}</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cp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rp</a:t>
            </a:r>
            <a:r>
              <a:rPr lang="en-US" sz="1050" dirty="0">
                <a:latin typeface="Cascadia Code" panose="020B0609020000020004" pitchFamily="49" charset="0"/>
                <a:ea typeface="Cascadia Code" panose="020B0609020000020004" pitchFamily="49" charset="0"/>
                <a:cs typeface="Cascadia Code" panose="020B0609020000020004" pitchFamily="49" charset="0"/>
              </a:rPr>
              <a:t>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ca.crt,issued</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bamhammed.crt,private</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bamhammed.key</a:t>
            </a:r>
            <a:r>
              <a:rPr lang="en-US" sz="1050" dirty="0">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/client/Bamhammed</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cp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rp</a:t>
            </a:r>
            <a:r>
              <a:rPr lang="en-US" sz="1050" dirty="0">
                <a:latin typeface="Cascadia Code" panose="020B0609020000020004" pitchFamily="49" charset="0"/>
                <a:ea typeface="Cascadia Code" panose="020B0609020000020004" pitchFamily="49" charset="0"/>
                <a:cs typeface="Cascadia Code" panose="020B0609020000020004" pitchFamily="49" charset="0"/>
              </a:rPr>
              <a:t> /etc/easy-rsa/</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pki</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ca.crt,issued</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/client2.crt,private/client2.key}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/client/client2</a:t>
            </a:r>
          </a:p>
        </p:txBody>
      </p:sp>
    </p:spTree>
    <p:extLst>
      <p:ext uri="{BB962C8B-B14F-4D97-AF65-F5344CB8AC3E}">
        <p14:creationId xmlns:p14="http://schemas.microsoft.com/office/powerpoint/2010/main" val="128843541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startAt="2"/>
            </a:pPr>
            <a:r>
              <a:rPr lang="fr-FR" sz="1400" dirty="0">
                <a:solidFill>
                  <a:srgbClr val="FFFF00"/>
                </a:solidFill>
              </a:rPr>
              <a:t>Installation et préparation  de OpenVPN </a:t>
            </a:r>
          </a:p>
        </p:txBody>
      </p:sp>
      <p:sp>
        <p:nvSpPr>
          <p:cNvPr id="5" name="ZoneTexte 4">
            <a:extLst>
              <a:ext uri="{FF2B5EF4-FFF2-40B4-BE49-F238E27FC236}">
                <a16:creationId xmlns:a16="http://schemas.microsoft.com/office/drawing/2014/main" id="{29DDB9DC-775A-453A-A9C9-A0999A641CF7}"/>
              </a:ext>
            </a:extLst>
          </p:cNvPr>
          <p:cNvSpPr txBox="1"/>
          <p:nvPr/>
        </p:nvSpPr>
        <p:spPr>
          <a:xfrm>
            <a:off x="425553" y="214451"/>
            <a:ext cx="11276861" cy="574772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Ensuite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commencer à configure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serveur</a:t>
            </a:r>
            <a:endPar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sym typeface="Wingdings" panose="05000000000000000000" pitchFamily="2" charset="2"/>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root@vpnserver:/etc/easy-rsa# cd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désarchiver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server.conf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gunzip</a:t>
            </a:r>
            <a:r>
              <a:rPr lang="en-US" sz="1050" dirty="0">
                <a:latin typeface="Cascadia Code" panose="020B0609020000020004" pitchFamily="49" charset="0"/>
                <a:ea typeface="Cascadia Code" panose="020B0609020000020004" pitchFamily="49" charset="0"/>
                <a:cs typeface="Cascadia Code" panose="020B0609020000020004" pitchFamily="49" charset="0"/>
              </a:rPr>
              <a:t> server.conf.gz</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Et on 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déplace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vers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dossoer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de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serveur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/server</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nano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server.conf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active 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ip</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forawardig</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se qui nous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permettera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d’encapsuler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toutes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données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via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tunnel et d’être sur que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toutes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données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passe par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tunnel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sed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i</a:t>
            </a:r>
            <a:r>
              <a:rPr lang="en-US" sz="1050" dirty="0">
                <a:latin typeface="Cascadia Code" panose="020B0609020000020004" pitchFamily="49" charset="0"/>
                <a:ea typeface="Cascadia Code" panose="020B0609020000020004" pitchFamily="49" charset="0"/>
                <a:cs typeface="Cascadia Code" panose="020B0609020000020004" pitchFamily="49" charset="0"/>
              </a:rPr>
              <a:t> 's/#net.ipv4.ip_forward=1/net.ipv4.ip_forward=1/'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sysctl.conf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sysctl</a:t>
            </a:r>
            <a:r>
              <a:rPr lang="en-US" sz="1050" dirty="0">
                <a:latin typeface="Cascadia Code" panose="020B0609020000020004" pitchFamily="49" charset="0"/>
                <a:ea typeface="Cascadia Code" panose="020B0609020000020004" pitchFamily="49" charset="0"/>
                <a:cs typeface="Cascadia Code" panose="020B0609020000020004" pitchFamily="49" charset="0"/>
              </a:rPr>
              <a:t> –system</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Applying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sysctl.conf</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net.ipv4.ip_forward = 1</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configure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firewall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autorisant</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ssh</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(22tcp) et 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(1194udp)</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ufw</a:t>
            </a:r>
            <a:r>
              <a:rPr lang="en-US" sz="1050" dirty="0">
                <a:latin typeface="Cascadia Code" panose="020B0609020000020004" pitchFamily="49" charset="0"/>
                <a:ea typeface="Cascadia Code" panose="020B0609020000020004" pitchFamily="49" charset="0"/>
                <a:cs typeface="Cascadia Code" panose="020B0609020000020004" pitchFamily="49" charset="0"/>
              </a:rPr>
              <a:t> allow 1194/</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udp</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Rules updated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Rules updated (v6)</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ufw</a:t>
            </a:r>
            <a:r>
              <a:rPr lang="en-US" sz="1050" dirty="0">
                <a:latin typeface="Cascadia Code" panose="020B0609020000020004" pitchFamily="49" charset="0"/>
                <a:ea typeface="Cascadia Code" panose="020B0609020000020004" pitchFamily="49" charset="0"/>
                <a:cs typeface="Cascadia Code" panose="020B0609020000020004" pitchFamily="49" charset="0"/>
              </a:rPr>
              <a:t> allow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ssh</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Rules updated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Rules updated (v6)</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nano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ufw</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before.rules</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accepte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toutes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données</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encapsule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renvoyé</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par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tunnel</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sed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i</a:t>
            </a:r>
            <a:r>
              <a:rPr lang="en-US" sz="1050" dirty="0">
                <a:latin typeface="Cascadia Code" panose="020B0609020000020004" pitchFamily="49" charset="0"/>
                <a:ea typeface="Cascadia Code" panose="020B0609020000020004" pitchFamily="49" charset="0"/>
                <a:cs typeface="Cascadia Code" panose="020B0609020000020004" pitchFamily="49" charset="0"/>
              </a:rPr>
              <a:t> 's/DEFAULT_FORWARD_POLICY="DROP"/DEFAULT_FORWARD_POLICY="ACCEPT"/' /etc/default/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ufw</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ufw</a:t>
            </a:r>
            <a:r>
              <a:rPr lang="en-US" sz="1050" dirty="0">
                <a:latin typeface="Cascadia Code" panose="020B0609020000020004" pitchFamily="49" charset="0"/>
                <a:ea typeface="Cascadia Code" panose="020B0609020000020004" pitchFamily="49" charset="0"/>
                <a:cs typeface="Cascadia Code" panose="020B0609020000020004" pitchFamily="49" charset="0"/>
              </a:rPr>
              <a:t> reload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Firewall not enabled (skipping reload)</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Activera</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firewall</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ufw</a:t>
            </a:r>
            <a:r>
              <a:rPr lang="en-US" sz="1050" dirty="0">
                <a:latin typeface="Cascadia Code" panose="020B0609020000020004" pitchFamily="49" charset="0"/>
                <a:ea typeface="Cascadia Code" panose="020B0609020000020004" pitchFamily="49" charset="0"/>
                <a:cs typeface="Cascadia Code" panose="020B0609020000020004" pitchFamily="49" charset="0"/>
              </a:rPr>
              <a:t> enable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Command may disrupt existing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ssh</a:t>
            </a:r>
            <a:r>
              <a:rPr lang="en-US" sz="1050" dirty="0">
                <a:latin typeface="Cascadia Code" panose="020B0609020000020004" pitchFamily="49" charset="0"/>
                <a:ea typeface="Cascadia Code" panose="020B0609020000020004" pitchFamily="49" charset="0"/>
                <a:cs typeface="Cascadia Code" panose="020B0609020000020004" pitchFamily="49" charset="0"/>
              </a:rPr>
              <a:t> connections. Proceed with operation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y|n</a:t>
            </a:r>
            <a:r>
              <a:rPr lang="en-US" sz="1050" dirty="0">
                <a:latin typeface="Cascadia Code" panose="020B0609020000020004" pitchFamily="49" charset="0"/>
                <a:ea typeface="Cascadia Code" panose="020B0609020000020004" pitchFamily="49" charset="0"/>
                <a:cs typeface="Cascadia Code" panose="020B0609020000020004" pitchFamily="49" charset="0"/>
              </a:rPr>
              <a:t>)? y</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Firewall is active and enabled on system startup</a:t>
            </a:r>
          </a:p>
        </p:txBody>
      </p:sp>
    </p:spTree>
    <p:extLst>
      <p:ext uri="{BB962C8B-B14F-4D97-AF65-F5344CB8AC3E}">
        <p14:creationId xmlns:p14="http://schemas.microsoft.com/office/powerpoint/2010/main" val="13178871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9DDB9DC-775A-453A-A9C9-A0999A641CF7}"/>
              </a:ext>
            </a:extLst>
          </p:cNvPr>
          <p:cNvSpPr txBox="1"/>
          <p:nvPr/>
        </p:nvSpPr>
        <p:spPr>
          <a:xfrm>
            <a:off x="425553" y="49351"/>
            <a:ext cx="11276861" cy="6878806"/>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systemctl</a:t>
            </a:r>
            <a:r>
              <a:rPr lang="en-US" sz="1050" dirty="0">
                <a:latin typeface="Cascadia Code" panose="020B0609020000020004" pitchFamily="49" charset="0"/>
                <a:ea typeface="Cascadia Code" panose="020B0609020000020004" pitchFamily="49" charset="0"/>
                <a:cs typeface="Cascadia Code" panose="020B0609020000020004" pitchFamily="49" charset="0"/>
              </a:rPr>
              <a:t> enable --now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openvpn-server@server</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maintenant</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peux</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lancer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serveur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Created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symlink</a:t>
            </a:r>
            <a:r>
              <a:rPr lang="en-US" sz="1050" dirty="0">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1050" dirty="0">
                <a:latin typeface="Cascadia Code" panose="020B0609020000020004" pitchFamily="49" charset="0"/>
                <a:ea typeface="Cascadia Code" panose="020B0609020000020004" pitchFamily="49" charset="0"/>
                <a:cs typeface="Cascadia Code" panose="020B0609020000020004" pitchFamily="49" charset="0"/>
              </a:rPr>
              <a:t>/system/multi-</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user.target.wants</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openvpn-server@server.service</a:t>
            </a:r>
            <a:r>
              <a:rPr lang="en-US" sz="1050" dirty="0">
                <a:latin typeface="Cascadia Code" panose="020B0609020000020004" pitchFamily="49" charset="0"/>
                <a:ea typeface="Cascadia Code" panose="020B0609020000020004" pitchFamily="49" charset="0"/>
                <a:cs typeface="Cascadia Code" panose="020B0609020000020004" pitchFamily="49" charset="0"/>
              </a:rPr>
              <a:t> → /lib/</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1050" dirty="0">
                <a:latin typeface="Cascadia Code" panose="020B0609020000020004" pitchFamily="49" charset="0"/>
                <a:ea typeface="Cascadia Code" panose="020B0609020000020004" pitchFamily="49" charset="0"/>
                <a:cs typeface="Cascadia Code" panose="020B0609020000020004" pitchFamily="49" charset="0"/>
              </a:rPr>
              <a:t>/system/</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server@.service</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br>
              <a:rPr lang="en-US" sz="1050" dirty="0">
                <a:latin typeface="Cascadia Code" panose="020B0609020000020004" pitchFamily="49" charset="0"/>
                <a:ea typeface="Cascadia Code" panose="020B0609020000020004" pitchFamily="49" charset="0"/>
                <a:cs typeface="Cascadia Code" panose="020B0609020000020004" pitchFamily="49" charset="0"/>
              </a:rPr>
            </a:br>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systemctl</a:t>
            </a:r>
            <a:r>
              <a:rPr lang="en-US" sz="1050" dirty="0">
                <a:latin typeface="Cascadia Code" panose="020B0609020000020004" pitchFamily="49" charset="0"/>
                <a:ea typeface="Cascadia Code" panose="020B0609020000020004" pitchFamily="49" charset="0"/>
                <a:cs typeface="Cascadia Code" panose="020B0609020000020004" pitchFamily="49" charset="0"/>
              </a:rPr>
              <a:t> status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openvpn-server@server</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openvpn-server@server.service</a:t>
            </a:r>
            <a:r>
              <a:rPr lang="en-US" sz="1050" dirty="0">
                <a:latin typeface="Cascadia Code" panose="020B0609020000020004" pitchFamily="49" charset="0"/>
                <a:ea typeface="Cascadia Code" panose="020B0609020000020004" pitchFamily="49" charset="0"/>
                <a:cs typeface="Cascadia Code" panose="020B0609020000020004" pitchFamily="49" charset="0"/>
              </a:rPr>
              <a:t> - OpenVPN service for server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Loaded: loaded (/lib/</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1050" dirty="0">
                <a:latin typeface="Cascadia Code" panose="020B0609020000020004" pitchFamily="49" charset="0"/>
                <a:ea typeface="Cascadia Code" panose="020B0609020000020004" pitchFamily="49" charset="0"/>
                <a:cs typeface="Cascadia Code" panose="020B0609020000020004" pitchFamily="49" charset="0"/>
              </a:rPr>
              <a:t>/system/</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server@.service</a:t>
            </a:r>
            <a:r>
              <a:rPr lang="en-US" sz="1050" dirty="0">
                <a:latin typeface="Cascadia Code" panose="020B0609020000020004" pitchFamily="49" charset="0"/>
                <a:ea typeface="Cascadia Code" panose="020B0609020000020004" pitchFamily="49" charset="0"/>
                <a:cs typeface="Cascadia Code" panose="020B0609020000020004" pitchFamily="49" charset="0"/>
              </a:rPr>
              <a:t>; enabled; vendor preset: enabled)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Active: active (running) since Mon 2022-04-11 23:01:24 UTC; 22s ago</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Docs: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man:openvpn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(8)</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https://community.openvpn.net/openvpn/wiki/Openvpn24ManPage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https://community.openvpn.net/openvpn/wiki/HOWTO</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Main PID: 16362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Status: "Initialization Sequence Completed"</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Tasks: 1 (limit: 19197)</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Memory: 840.0K</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CGroup</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system.slice</a:t>
            </a:r>
            <a:r>
              <a:rPr lang="en-US" sz="1050" dirty="0">
                <a:latin typeface="Cascadia Code" panose="020B0609020000020004" pitchFamily="49" charset="0"/>
                <a:ea typeface="Cascadia Code" panose="020B0609020000020004" pitchFamily="49" charset="0"/>
                <a:cs typeface="Cascadia Code" panose="020B0609020000020004" pitchFamily="49" charset="0"/>
              </a:rPr>
              <a:t>/system-</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\x2dserver.slice/</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openvpn-server@server.service</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             └─16362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usr</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sbin</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 --status /run/</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-server/status-server.log --status-version 2 --suppress-timestamps --config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server.conf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Apr 11 23:01:24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vpnserver</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1050" dirty="0">
                <a:latin typeface="Cascadia Code" panose="020B0609020000020004" pitchFamily="49" charset="0"/>
                <a:ea typeface="Cascadia Code" panose="020B0609020000020004" pitchFamily="49" charset="0"/>
                <a:cs typeface="Cascadia Code" panose="020B0609020000020004" pitchFamily="49" charset="0"/>
              </a:rPr>
              <a:t>[1]: Starting OpenVPN service for server...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Apr 11 23:01:24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vpnserver</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systemd</a:t>
            </a:r>
            <a:r>
              <a:rPr lang="en-US" sz="1050" dirty="0">
                <a:latin typeface="Cascadia Code" panose="020B0609020000020004" pitchFamily="49" charset="0"/>
                <a:ea typeface="Cascadia Code" panose="020B0609020000020004" pitchFamily="49" charset="0"/>
                <a:cs typeface="Cascadia Code" panose="020B0609020000020004" pitchFamily="49" charset="0"/>
              </a:rPr>
              <a:t>[1]: Started OpenVPN service for server.</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on remarque que y a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une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autre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interface qui tun0 , et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elle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représente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tunnel</a:t>
            </a:r>
            <a:br>
              <a:rPr lang="en-US" sz="1050" dirty="0">
                <a:latin typeface="Cascadia Code" panose="020B0609020000020004" pitchFamily="49" charset="0"/>
                <a:ea typeface="Cascadia Code" panose="020B0609020000020004" pitchFamily="49" charset="0"/>
                <a:cs typeface="Cascadia Code" panose="020B0609020000020004" pitchFamily="49" charset="0"/>
              </a:rPr>
            </a:br>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/server#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ip</a:t>
            </a:r>
            <a:r>
              <a:rPr lang="en-US" sz="1050" dirty="0">
                <a:latin typeface="Cascadia Code" panose="020B0609020000020004" pitchFamily="49" charset="0"/>
                <a:ea typeface="Cascadia Code" panose="020B0609020000020004" pitchFamily="49" charset="0"/>
                <a:cs typeface="Cascadia Code" panose="020B0609020000020004" pitchFamily="49" charset="0"/>
              </a:rPr>
              <a:t> add s</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1: lo: &lt;LOOPBACK,UP,LOWER_UP&gt;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mtu</a:t>
            </a:r>
            <a:r>
              <a:rPr lang="en-US" sz="1050" dirty="0">
                <a:latin typeface="Cascadia Code" panose="020B0609020000020004" pitchFamily="49" charset="0"/>
                <a:ea typeface="Cascadia Code" panose="020B0609020000020004" pitchFamily="49" charset="0"/>
                <a:cs typeface="Cascadia Code" panose="020B0609020000020004" pitchFamily="49" charset="0"/>
              </a:rPr>
              <a:t> 65536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qdisc</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noqueue</a:t>
            </a:r>
            <a:r>
              <a:rPr lang="en-US" sz="1050" dirty="0">
                <a:latin typeface="Cascadia Code" panose="020B0609020000020004" pitchFamily="49" charset="0"/>
                <a:ea typeface="Cascadia Code" panose="020B0609020000020004" pitchFamily="49" charset="0"/>
                <a:cs typeface="Cascadia Code" panose="020B0609020000020004" pitchFamily="49" charset="0"/>
              </a:rPr>
              <a:t> state UNKNOWN group default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qlen</a:t>
            </a:r>
            <a:r>
              <a:rPr lang="en-US" sz="1050" dirty="0">
                <a:latin typeface="Cascadia Code" panose="020B0609020000020004" pitchFamily="49" charset="0"/>
                <a:ea typeface="Cascadia Code" panose="020B0609020000020004" pitchFamily="49" charset="0"/>
                <a:cs typeface="Cascadia Code" panose="020B0609020000020004" pitchFamily="49" charset="0"/>
              </a:rPr>
              <a:t> 1000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link/loopback 00:00:00:00:00:00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brd</a:t>
            </a:r>
            <a:r>
              <a:rPr lang="en-US" sz="1050" dirty="0">
                <a:latin typeface="Cascadia Code" panose="020B0609020000020004" pitchFamily="49" charset="0"/>
                <a:ea typeface="Cascadia Code" panose="020B0609020000020004" pitchFamily="49" charset="0"/>
                <a:cs typeface="Cascadia Code" panose="020B0609020000020004" pitchFamily="49" charset="0"/>
              </a:rPr>
              <a:t> 00:00:00:00:00:00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inet</a:t>
            </a:r>
            <a:r>
              <a:rPr lang="en-US" sz="1050" dirty="0">
                <a:latin typeface="Cascadia Code" panose="020B0609020000020004" pitchFamily="49" charset="0"/>
                <a:ea typeface="Cascadia Code" panose="020B0609020000020004" pitchFamily="49" charset="0"/>
                <a:cs typeface="Cascadia Code" panose="020B0609020000020004" pitchFamily="49" charset="0"/>
              </a:rPr>
              <a:t> 127.0.0.1/8 scope host lo</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valid_lft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preferred_lft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inet6 ::1/128 scope host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valid_lft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preferred_lft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2: eth0: &lt;BROADCAST,MULTICAST,UP,LOWER_UP&gt;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mtu</a:t>
            </a:r>
            <a:r>
              <a:rPr lang="en-US" sz="1050" dirty="0">
                <a:latin typeface="Cascadia Code" panose="020B0609020000020004" pitchFamily="49" charset="0"/>
                <a:ea typeface="Cascadia Code" panose="020B0609020000020004" pitchFamily="49" charset="0"/>
                <a:cs typeface="Cascadia Code" panose="020B0609020000020004" pitchFamily="49" charset="0"/>
              </a:rPr>
              <a:t> 1500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qdisc</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mq</a:t>
            </a:r>
            <a:r>
              <a:rPr lang="en-US" sz="1050" dirty="0">
                <a:latin typeface="Cascadia Code" panose="020B0609020000020004" pitchFamily="49" charset="0"/>
                <a:ea typeface="Cascadia Code" panose="020B0609020000020004" pitchFamily="49" charset="0"/>
                <a:cs typeface="Cascadia Code" panose="020B0609020000020004" pitchFamily="49" charset="0"/>
              </a:rPr>
              <a:t> state UP group default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qlen</a:t>
            </a:r>
            <a:r>
              <a:rPr lang="en-US" sz="1050" dirty="0">
                <a:latin typeface="Cascadia Code" panose="020B0609020000020004" pitchFamily="49" charset="0"/>
                <a:ea typeface="Cascadia Code" panose="020B0609020000020004" pitchFamily="49" charset="0"/>
                <a:cs typeface="Cascadia Code" panose="020B0609020000020004" pitchFamily="49" charset="0"/>
              </a:rPr>
              <a:t> 1000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link/ether 00:0d:3a:22:68:3e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brd</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ff:ff:ff:ff:ff:ff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inet</a:t>
            </a:r>
            <a:r>
              <a:rPr lang="en-US" sz="1050" dirty="0">
                <a:latin typeface="Cascadia Code" panose="020B0609020000020004" pitchFamily="49" charset="0"/>
                <a:ea typeface="Cascadia Code" panose="020B0609020000020004" pitchFamily="49" charset="0"/>
                <a:cs typeface="Cascadia Code" panose="020B0609020000020004" pitchFamily="49" charset="0"/>
              </a:rPr>
              <a:t> 10.0.0.4/24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brd</a:t>
            </a:r>
            <a:r>
              <a:rPr lang="en-US" sz="1050" dirty="0">
                <a:latin typeface="Cascadia Code" panose="020B0609020000020004" pitchFamily="49" charset="0"/>
                <a:ea typeface="Cascadia Code" panose="020B0609020000020004" pitchFamily="49" charset="0"/>
                <a:cs typeface="Cascadia Code" panose="020B0609020000020004" pitchFamily="49" charset="0"/>
              </a:rPr>
              <a:t> 10.0.0.255 scope global eth0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valid_lft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preferred_lft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inet6 fe80::20d:3aff:fe22:683e/64 scope link</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valid_lft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preferred_lft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3: enP62193s1: &lt;BROADCAST,MULTICAST,SLAVE,UP,LOWER_UP&gt;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mtu</a:t>
            </a:r>
            <a:r>
              <a:rPr lang="en-US" sz="1050" dirty="0">
                <a:latin typeface="Cascadia Code" panose="020B0609020000020004" pitchFamily="49" charset="0"/>
                <a:ea typeface="Cascadia Code" panose="020B0609020000020004" pitchFamily="49" charset="0"/>
                <a:cs typeface="Cascadia Code" panose="020B0609020000020004" pitchFamily="49" charset="0"/>
              </a:rPr>
              <a:t> 1500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qdisc</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mq</a:t>
            </a:r>
            <a:r>
              <a:rPr lang="en-US" sz="1050" dirty="0">
                <a:latin typeface="Cascadia Code" panose="020B0609020000020004" pitchFamily="49" charset="0"/>
                <a:ea typeface="Cascadia Code" panose="020B0609020000020004" pitchFamily="49" charset="0"/>
                <a:cs typeface="Cascadia Code" panose="020B0609020000020004" pitchFamily="49" charset="0"/>
              </a:rPr>
              <a:t> master eth0 state UP group default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qlen</a:t>
            </a:r>
            <a:r>
              <a:rPr lang="en-US" sz="1050" dirty="0">
                <a:latin typeface="Cascadia Code" panose="020B0609020000020004" pitchFamily="49" charset="0"/>
                <a:ea typeface="Cascadia Code" panose="020B0609020000020004" pitchFamily="49" charset="0"/>
                <a:cs typeface="Cascadia Code" panose="020B0609020000020004" pitchFamily="49" charset="0"/>
              </a:rPr>
              <a:t> 1000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link/ether 00:0d:3a:22:68:3e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brd</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ff:ff:ff:ff:ff:ff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    altname enP62193p0s2</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4: tun0: &lt;POINTOPOINT,MULTICAST,NOARP,UP,LOWER_UP&gt;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mtu</a:t>
            </a:r>
            <a:r>
              <a:rPr lang="en-US" sz="1050" dirty="0">
                <a:latin typeface="Cascadia Code" panose="020B0609020000020004" pitchFamily="49" charset="0"/>
                <a:ea typeface="Cascadia Code" panose="020B0609020000020004" pitchFamily="49" charset="0"/>
                <a:cs typeface="Cascadia Code" panose="020B0609020000020004" pitchFamily="49" charset="0"/>
              </a:rPr>
              <a:t> 1500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qdisc</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fq_codel</a:t>
            </a:r>
            <a:r>
              <a:rPr lang="en-US" sz="1050" dirty="0">
                <a:latin typeface="Cascadia Code" panose="020B0609020000020004" pitchFamily="49" charset="0"/>
                <a:ea typeface="Cascadia Code" panose="020B0609020000020004" pitchFamily="49" charset="0"/>
                <a:cs typeface="Cascadia Code" panose="020B0609020000020004" pitchFamily="49" charset="0"/>
              </a:rPr>
              <a:t> state UNKNOWN group default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qlen</a:t>
            </a:r>
            <a:r>
              <a:rPr lang="en-US" sz="1050" dirty="0">
                <a:latin typeface="Cascadia Code" panose="020B0609020000020004" pitchFamily="49" charset="0"/>
                <a:ea typeface="Cascadia Code" panose="020B0609020000020004" pitchFamily="49" charset="0"/>
                <a:cs typeface="Cascadia Code" panose="020B0609020000020004" pitchFamily="49" charset="0"/>
              </a:rPr>
              <a:t> 100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link/none</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inet</a:t>
            </a:r>
            <a:r>
              <a:rPr lang="en-US" sz="1050" dirty="0">
                <a:latin typeface="Cascadia Code" panose="020B0609020000020004" pitchFamily="49" charset="0"/>
                <a:ea typeface="Cascadia Code" panose="020B0609020000020004" pitchFamily="49" charset="0"/>
                <a:cs typeface="Cascadia Code" panose="020B0609020000020004" pitchFamily="49" charset="0"/>
              </a:rPr>
              <a:t> 10.8.0.1/24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brd</a:t>
            </a:r>
            <a:r>
              <a:rPr lang="en-US" sz="1050" dirty="0">
                <a:latin typeface="Cascadia Code" panose="020B0609020000020004" pitchFamily="49" charset="0"/>
                <a:ea typeface="Cascadia Code" panose="020B0609020000020004" pitchFamily="49" charset="0"/>
                <a:cs typeface="Cascadia Code" panose="020B0609020000020004" pitchFamily="49" charset="0"/>
              </a:rPr>
              <a:t> 10.8.0.255 scope global tun0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valid_lft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preferred_lft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inet6 fe80::7ce:8ee:76c5:65b3/64 scope link stable-privacy</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valid_lft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preferred_lft</a:t>
            </a:r>
            <a:r>
              <a:rPr lang="en-US" sz="1050" dirty="0">
                <a:latin typeface="Cascadia Code" panose="020B0609020000020004" pitchFamily="49" charset="0"/>
                <a:ea typeface="Cascadia Code" panose="020B0609020000020004" pitchFamily="49" charset="0"/>
                <a:cs typeface="Cascadia Code" panose="020B0609020000020004" pitchFamily="49" charset="0"/>
              </a:rPr>
              <a:t> forever</a:t>
            </a:r>
          </a:p>
        </p:txBody>
      </p:sp>
      <p:sp>
        <p:nvSpPr>
          <p:cNvPr id="4" name="ZoneTexte 3">
            <a:extLst>
              <a:ext uri="{FF2B5EF4-FFF2-40B4-BE49-F238E27FC236}">
                <a16:creationId xmlns:a16="http://schemas.microsoft.com/office/drawing/2014/main" id="{EBB7C4B5-3690-40EF-91FE-8B18EBC905C4}"/>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startAt="2"/>
            </a:pPr>
            <a:r>
              <a:rPr lang="fr-FR" sz="1400" dirty="0">
                <a:solidFill>
                  <a:srgbClr val="FFFF00"/>
                </a:solidFill>
              </a:rPr>
              <a:t>Installation et préparation  de OpenVPN </a:t>
            </a:r>
          </a:p>
        </p:txBody>
      </p:sp>
    </p:spTree>
    <p:extLst>
      <p:ext uri="{BB962C8B-B14F-4D97-AF65-F5344CB8AC3E}">
        <p14:creationId xmlns:p14="http://schemas.microsoft.com/office/powerpoint/2010/main" val="105120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9DDB9DC-775A-453A-A9C9-A0999A641CF7}"/>
              </a:ext>
            </a:extLst>
          </p:cNvPr>
          <p:cNvSpPr txBox="1"/>
          <p:nvPr/>
        </p:nvSpPr>
        <p:spPr>
          <a:xfrm>
            <a:off x="425553" y="963753"/>
            <a:ext cx="11276861" cy="5101397"/>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 ls</a:t>
            </a:r>
          </a:p>
          <a:p>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client2</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 cp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usr</a:t>
            </a:r>
            <a:r>
              <a:rPr lang="en-US" sz="1050" dirty="0">
                <a:latin typeface="Cascadia Code" panose="020B0609020000020004" pitchFamily="49" charset="0"/>
                <a:ea typeface="Cascadia Code" panose="020B0609020000020004" pitchFamily="49" charset="0"/>
                <a:cs typeface="Cascadia Code" panose="020B0609020000020004" pitchFamily="49" charset="0"/>
              </a:rPr>
              <a:t>/share/doc/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/examples/sample-config-files/</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client.conf</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 cp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client.conf</a:t>
            </a:r>
            <a:r>
              <a:rPr lang="en-US" sz="1050" dirty="0">
                <a:latin typeface="Cascadia Code" panose="020B0609020000020004" pitchFamily="49" charset="0"/>
                <a:ea typeface="Cascadia Code" panose="020B0609020000020004" pitchFamily="49" charset="0"/>
                <a:cs typeface="Cascadia Code" panose="020B0609020000020004" pitchFamily="49" charset="0"/>
              </a:rPr>
              <a:t> ./client2/</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 cd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ls -l</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total 20</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rw</a:t>
            </a:r>
            <a:r>
              <a:rPr lang="en-US" sz="1050" dirty="0">
                <a:latin typeface="Cascadia Code" panose="020B0609020000020004" pitchFamily="49" charset="0"/>
                <a:ea typeface="Cascadia Code" panose="020B0609020000020004" pitchFamily="49" charset="0"/>
                <a:cs typeface="Cascadia Code" panose="020B0609020000020004" pitchFamily="49" charset="0"/>
              </a:rPr>
              <a:t>------- 1 root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root</a:t>
            </a:r>
            <a:r>
              <a:rPr lang="en-US" sz="1050" dirty="0">
                <a:latin typeface="Cascadia Code" panose="020B0609020000020004" pitchFamily="49" charset="0"/>
                <a:ea typeface="Cascadia Code" panose="020B0609020000020004" pitchFamily="49" charset="0"/>
                <a:cs typeface="Cascadia Code" panose="020B0609020000020004" pitchFamily="49" charset="0"/>
              </a:rPr>
              <a:t> 4477 Apr 11 22:48 bamhammed.crt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rw</a:t>
            </a:r>
            <a:r>
              <a:rPr lang="en-US" sz="1050" dirty="0">
                <a:latin typeface="Cascadia Code" panose="020B0609020000020004" pitchFamily="49" charset="0"/>
                <a:ea typeface="Cascadia Code" panose="020B0609020000020004" pitchFamily="49" charset="0"/>
                <a:cs typeface="Cascadia Code" panose="020B0609020000020004" pitchFamily="49" charset="0"/>
              </a:rPr>
              <a:t>------- 1 root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root</a:t>
            </a:r>
            <a:r>
              <a:rPr lang="en-US" sz="1050" dirty="0">
                <a:latin typeface="Cascadia Code" panose="020B0609020000020004" pitchFamily="49" charset="0"/>
                <a:ea typeface="Cascadia Code" panose="020B0609020000020004" pitchFamily="49" charset="0"/>
                <a:cs typeface="Cascadia Code" panose="020B0609020000020004" pitchFamily="49" charset="0"/>
              </a:rPr>
              <a:t> 1704 Apr 11 22:48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bamhammed.key</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rw</a:t>
            </a:r>
            <a:r>
              <a:rPr lang="en-US" sz="1050" dirty="0">
                <a:latin typeface="Cascadia Code" panose="020B0609020000020004" pitchFamily="49" charset="0"/>
                <a:ea typeface="Cascadia Code" panose="020B0609020000020004" pitchFamily="49" charset="0"/>
                <a:cs typeface="Cascadia Code" panose="020B0609020000020004" pitchFamily="49" charset="0"/>
              </a:rPr>
              <a:t>------- 1 root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root</a:t>
            </a:r>
            <a:r>
              <a:rPr lang="en-US" sz="1050" dirty="0">
                <a:latin typeface="Cascadia Code" panose="020B0609020000020004" pitchFamily="49" charset="0"/>
                <a:ea typeface="Cascadia Code" panose="020B0609020000020004" pitchFamily="49" charset="0"/>
                <a:cs typeface="Cascadia Code" panose="020B0609020000020004" pitchFamily="49" charset="0"/>
              </a:rPr>
              <a:t> 1184 Apr 11 22:43 ca.crt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rw</a:t>
            </a:r>
            <a:r>
              <a:rPr lang="en-US" sz="1050" dirty="0">
                <a:latin typeface="Cascadia Code" panose="020B0609020000020004" pitchFamily="49" charset="0"/>
                <a:ea typeface="Cascadia Code" panose="020B0609020000020004" pitchFamily="49" charset="0"/>
                <a:cs typeface="Cascadia Code" panose="020B0609020000020004" pitchFamily="49" charset="0"/>
              </a:rPr>
              <a:t>-r--r-- 1 root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root</a:t>
            </a:r>
            <a:r>
              <a:rPr lang="en-US" sz="1050" dirty="0">
                <a:latin typeface="Cascadia Code" panose="020B0609020000020004" pitchFamily="49" charset="0"/>
                <a:ea typeface="Cascadia Code" panose="020B0609020000020004" pitchFamily="49" charset="0"/>
                <a:cs typeface="Cascadia Code" panose="020B0609020000020004" pitchFamily="49" charset="0"/>
              </a:rPr>
              <a:t> 3586 Apr 11 23:16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client.conf</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Pour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terminer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conf,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cree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notre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fichier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et on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ajoute</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mv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client.conf</a:t>
            </a:r>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nano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echo "&lt;ca&gt;"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cat ca.crt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echo "&lt;/ca&gt;"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echo "&lt;cert&gt;"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cat bamhammed.crt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echo "&lt;/cert&gt;"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echo "&lt;key&gt;"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cat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bamhammed.key</a:t>
            </a:r>
            <a:r>
              <a:rPr lang="en-US" sz="1050" dirty="0">
                <a:latin typeface="Cascadia Code" panose="020B0609020000020004" pitchFamily="49" charset="0"/>
                <a:ea typeface="Cascadia Code" panose="020B0609020000020004" pitchFamily="49" charset="0"/>
                <a:cs typeface="Cascadia Code" panose="020B0609020000020004" pitchFamily="49" charset="0"/>
              </a:rPr>
              <a: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echo "&lt;/key&gt;" &gt;&gt;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 nano </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bamhammed.ovpn</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latin typeface="Cascadia Code" panose="020B0609020000020004" pitchFamily="49" charset="0"/>
                <a:ea typeface="Cascadia Code" panose="020B0609020000020004" pitchFamily="49" charset="0"/>
                <a:cs typeface="Cascadia Code" panose="020B0609020000020004" pitchFamily="49" charset="0"/>
              </a:rPr>
              <a:t>root@vpnserver:/etc/</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latin typeface="Cascadia Code" panose="020B0609020000020004" pitchFamily="49" charset="0"/>
                <a:ea typeface="Cascadia Code" panose="020B0609020000020004" pitchFamily="49" charset="0"/>
                <a:cs typeface="Cascadia Code" panose="020B0609020000020004" pitchFamily="49" charset="0"/>
              </a:rPr>
              <a:t>/client/</a:t>
            </a:r>
            <a:r>
              <a:rPr lang="en-US" sz="1050" dirty="0" err="1">
                <a:latin typeface="Cascadia Code" panose="020B0609020000020004" pitchFamily="49" charset="0"/>
                <a:ea typeface="Cascadia Code" panose="020B0609020000020004" pitchFamily="49" charset="0"/>
                <a:cs typeface="Cascadia Code" panose="020B0609020000020004" pitchFamily="49" charset="0"/>
              </a:rPr>
              <a:t>bamhammed</a:t>
            </a:r>
            <a:r>
              <a:rPr lang="en-US" sz="1050" dirty="0">
                <a:latin typeface="Cascadia Code" panose="020B0609020000020004" pitchFamily="49" charset="0"/>
                <a:ea typeface="Cascadia Code" panose="020B0609020000020004" pitchFamily="49" charset="0"/>
                <a:cs typeface="Cascadia Code" panose="020B0609020000020004" pitchFamily="49" charset="0"/>
              </a:rPr>
              <a:t>#</a:t>
            </a:r>
          </a:p>
          <a:p>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Finalement</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pour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récuper</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les conf on un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scp</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ssh</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copy)</a:t>
            </a:r>
          </a:p>
          <a:p>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scp</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hlinkClick r:id="rId3"/>
              </a:rPr>
              <a:t>bam@20.224.137.222</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 /etc/</a:t>
            </a:r>
            <a:r>
              <a:rPr lang="en-US" sz="1050" dirty="0" err="1">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openvpn</a:t>
            </a:r>
            <a:r>
              <a:rPr lang="en-US" sz="1050" dirty="0">
                <a:solidFill>
                  <a:srgbClr val="00B0F0"/>
                </a:solidFill>
                <a:latin typeface="Cascadia Code" panose="020B0609020000020004" pitchFamily="49" charset="0"/>
                <a:ea typeface="Cascadia Code" panose="020B0609020000020004" pitchFamily="49" charset="0"/>
                <a:cs typeface="Cascadia Code" panose="020B0609020000020004" pitchFamily="49" charset="0"/>
              </a:rPr>
              <a:t>/client ./</a:t>
            </a:r>
            <a:endParaRPr lang="en-US" sz="105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6" name="ZoneTexte 5">
            <a:extLst>
              <a:ext uri="{FF2B5EF4-FFF2-40B4-BE49-F238E27FC236}">
                <a16:creationId xmlns:a16="http://schemas.microsoft.com/office/drawing/2014/main" id="{CD4921DD-BFCE-4423-BE3A-9C58FA0AC8A0}"/>
              </a:ext>
            </a:extLst>
          </p:cNvPr>
          <p:cNvSpPr txBox="1"/>
          <p:nvPr/>
        </p:nvSpPr>
        <p:spPr>
          <a:xfrm>
            <a:off x="273338" y="304137"/>
            <a:ext cx="2585964" cy="523220"/>
          </a:xfrm>
          <a:prstGeom prst="rect">
            <a:avLst/>
          </a:prstGeom>
          <a:noFill/>
        </p:spPr>
        <p:txBody>
          <a:bodyPr wrap="none" rtlCol="0">
            <a:spAutoFit/>
          </a:bodyPr>
          <a:lstStyle/>
          <a:p>
            <a:pPr marL="514350" indent="-514350">
              <a:buFont typeface="+mj-lt"/>
              <a:buAutoNum type="arabicPeriod" startAt="2"/>
            </a:pPr>
            <a:r>
              <a:rPr lang="fr-FR" sz="2800" dirty="0">
                <a:solidFill>
                  <a:srgbClr val="FFFF00"/>
                </a:solidFill>
              </a:rPr>
              <a:t>Coté Client</a:t>
            </a:r>
          </a:p>
        </p:txBody>
      </p:sp>
      <p:sp>
        <p:nvSpPr>
          <p:cNvPr id="7" name="ZoneTexte 6">
            <a:extLst>
              <a:ext uri="{FF2B5EF4-FFF2-40B4-BE49-F238E27FC236}">
                <a16:creationId xmlns:a16="http://schemas.microsoft.com/office/drawing/2014/main" id="{E42B5215-594C-41A1-A90C-1A3DB4B0F9F1}"/>
              </a:ext>
            </a:extLst>
          </p:cNvPr>
          <p:cNvSpPr txBox="1"/>
          <p:nvPr/>
        </p:nvSpPr>
        <p:spPr>
          <a:xfrm>
            <a:off x="8042786" y="6548124"/>
            <a:ext cx="4119013" cy="307777"/>
          </a:xfrm>
          <a:prstGeom prst="rect">
            <a:avLst/>
          </a:prstGeom>
          <a:noFill/>
        </p:spPr>
        <p:txBody>
          <a:bodyPr wrap="none" rtlCol="0">
            <a:spAutoFit/>
          </a:bodyPr>
          <a:lstStyle/>
          <a:p>
            <a:pPr marL="514350" indent="-514350">
              <a:buFont typeface="+mj-lt"/>
              <a:buAutoNum type="alphaLcParenR"/>
            </a:pPr>
            <a:r>
              <a:rPr lang="fr-FR" sz="1400" dirty="0">
                <a:solidFill>
                  <a:srgbClr val="FFFF00"/>
                </a:solidFill>
              </a:rPr>
              <a:t>Génération des fichiers d’authentification</a:t>
            </a:r>
          </a:p>
        </p:txBody>
      </p:sp>
    </p:spTree>
    <p:extLst>
      <p:ext uri="{BB962C8B-B14F-4D97-AF65-F5344CB8AC3E}">
        <p14:creationId xmlns:p14="http://schemas.microsoft.com/office/powerpoint/2010/main" val="213167766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BB7C4B5-3690-40EF-91FE-8B18EBC905C4}"/>
              </a:ext>
            </a:extLst>
          </p:cNvPr>
          <p:cNvSpPr txBox="1"/>
          <p:nvPr/>
        </p:nvSpPr>
        <p:spPr>
          <a:xfrm>
            <a:off x="1248698" y="908914"/>
            <a:ext cx="2040943" cy="523220"/>
          </a:xfrm>
          <a:prstGeom prst="rect">
            <a:avLst/>
          </a:prstGeom>
          <a:noFill/>
        </p:spPr>
        <p:txBody>
          <a:bodyPr wrap="none" rtlCol="0">
            <a:spAutoFit/>
          </a:bodyPr>
          <a:lstStyle/>
          <a:p>
            <a:r>
              <a:rPr lang="fr-FR" sz="2800" dirty="0">
                <a:solidFill>
                  <a:srgbClr val="FFFF00"/>
                </a:solidFill>
              </a:rPr>
              <a:t>Conclusion</a:t>
            </a:r>
          </a:p>
        </p:txBody>
      </p:sp>
      <p:sp>
        <p:nvSpPr>
          <p:cNvPr id="6" name="ZoneTexte 5">
            <a:extLst>
              <a:ext uri="{FF2B5EF4-FFF2-40B4-BE49-F238E27FC236}">
                <a16:creationId xmlns:a16="http://schemas.microsoft.com/office/drawing/2014/main" id="{494C165D-1EF4-4D0C-9DB0-FB8A3788D7C3}"/>
              </a:ext>
            </a:extLst>
          </p:cNvPr>
          <p:cNvSpPr txBox="1"/>
          <p:nvPr/>
        </p:nvSpPr>
        <p:spPr>
          <a:xfrm>
            <a:off x="1877962" y="1997839"/>
            <a:ext cx="6430296" cy="2862322"/>
          </a:xfrm>
          <a:prstGeom prst="rect">
            <a:avLst/>
          </a:prstGeom>
          <a:noFill/>
        </p:spPr>
        <p:txBody>
          <a:bodyPr wrap="square" rtlCol="0">
            <a:spAutoFit/>
          </a:bodyPr>
          <a:lstStyle/>
          <a:p>
            <a:pPr lvl="1"/>
            <a:r>
              <a:rPr lang="fr-FR" sz="2000" dirty="0">
                <a:latin typeface="Corbel" panose="020B0503020204020204" pitchFamily="34" charset="0"/>
              </a:rPr>
              <a:t>Le projet c’est commencé tard pour moi ,j’avais l’occasion d’approfondir mes connaissances sur  les détails de chaque outils, il me manquera des temps pour le rend parfait, j’ai vécu des problèmes (les ports de la box, travailler avec le Raspberry). Mais au final c’était très intéressant d’avoir ce que on peux faire en infra et ce que on peux </a:t>
            </a:r>
            <a:r>
              <a:rPr lang="fr-FR" sz="2000" dirty="0" err="1">
                <a:latin typeface="Corbel" panose="020B0503020204020204" pitchFamily="34" charset="0"/>
              </a:rPr>
              <a:t>cree</a:t>
            </a:r>
            <a:r>
              <a:rPr lang="fr-FR" sz="2000" dirty="0">
                <a:latin typeface="Corbel" panose="020B0503020204020204" pitchFamily="34" charset="0"/>
              </a:rPr>
              <a:t>, et ça nous a permis de revoir ce que on a vu sur les cours de linux linux et réseaux  </a:t>
            </a:r>
            <a:endParaRPr lang="fr-FR" sz="1600" dirty="0">
              <a:latin typeface="Corbel" panose="020B0503020204020204" pitchFamily="34" charset="0"/>
            </a:endParaRPr>
          </a:p>
        </p:txBody>
      </p:sp>
    </p:spTree>
    <p:extLst>
      <p:ext uri="{BB962C8B-B14F-4D97-AF65-F5344CB8AC3E}">
        <p14:creationId xmlns:p14="http://schemas.microsoft.com/office/powerpoint/2010/main" val="34901009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Template>
  <TotalTime>2797</TotalTime>
  <Words>3009</Words>
  <Application>Microsoft Office PowerPoint</Application>
  <PresentationFormat>Grand écran</PresentationFormat>
  <Paragraphs>277</Paragraphs>
  <Slides>13</Slides>
  <Notes>3</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13</vt:i4>
      </vt:variant>
    </vt:vector>
  </HeadingPairs>
  <TitlesOfParts>
    <vt:vector size="20" baseType="lpstr">
      <vt:lpstr>Arial</vt:lpstr>
      <vt:lpstr>Bookman Old Style</vt:lpstr>
      <vt:lpstr>Calibri</vt:lpstr>
      <vt:lpstr>Cascadia Code</vt:lpstr>
      <vt:lpstr>Corbel</vt:lpstr>
      <vt:lpstr>Rockwell</vt:lpstr>
      <vt:lpstr>Damask</vt:lpstr>
      <vt:lpstr>Rapport de projet: VPN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Rapport de projet: VPN</dc:title>
  <dc:creator>Bamhammed METEHRI</dc:creator>
  <cp:lastModifiedBy>Bamhammed METEHRI</cp:lastModifiedBy>
  <cp:revision>6</cp:revision>
  <dcterms:created xsi:type="dcterms:W3CDTF">2022-04-06T12:49:07Z</dcterms:created>
  <dcterms:modified xsi:type="dcterms:W3CDTF">2022-04-12T05:23:13Z</dcterms:modified>
</cp:coreProperties>
</file>